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4196d1c6-45a3-8b0a-2e60-5fee7d5b82e8}">
          <p14:sldIdLst>
            <p14:sldId id="256"/>
            <p14:sldId id="257"/>
            <p14:sldId id="258"/>
          </p14:sldIdLst>
        </p14:section>
        <p14:section name="Fields" id="{9c0c4993-2e5a-3d46-d026-6bed1699a5de}">
          <p14:sldIdLst>
            <p14:sldId id="259"/>
            <p14:sldId id="260"/>
            <p14:sldId id="261"/>
            <p14:sldId id="262"/>
            <p14:sldId id="263"/>
          </p14:sldIdLst>
        </p14:section>
        <p14:section name="Connections" id="{3a0f3aaf-f43c-9736-07db-3a9da8e9706e}">
          <p14:sldIdLst>
            <p14:sldId id="264"/>
            <p14:sldId id="265"/>
            <p14:sldId id="266"/>
          </p14:sldIdLst>
        </p14:section>
        <p14:section name="Roadmap" id="{959287e7-6914-7c9a-42f9-a7885d85462b}">
          <p14:sldIdLst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781"/>
                </a:solidFill>
              </a:rPr>
              <a:t>AI &amp; ML Tree   |   Developed by Syed Muhammad Tayyab</a:t>
            </a:r>
            <a:endParaRPr lang="en-US" sz="10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78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78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stripe Foundations"/>
          <p:cNvSpPr/>
          <p:nvPr/>
        </p:nvSpPr>
        <p:spPr>
          <a:xfrm>
            <a:off x="0" y="0"/>
            <a:ext cx="2031492" cy="16459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Bottom stripe Foundations"/>
          <p:cNvSpPr/>
          <p:nvPr/>
        </p:nvSpPr>
        <p:spPr>
          <a:xfrm>
            <a:off x="0" y="6693408"/>
            <a:ext cx="2031492" cy="16459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op stripe Classical ML"/>
          <p:cNvSpPr/>
          <p:nvPr/>
        </p:nvSpPr>
        <p:spPr>
          <a:xfrm>
            <a:off x="2031492" y="0"/>
            <a:ext cx="2031492" cy="164592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Bottom stripe Classical ML"/>
          <p:cNvSpPr/>
          <p:nvPr/>
        </p:nvSpPr>
        <p:spPr>
          <a:xfrm>
            <a:off x="2031492" y="6693408"/>
            <a:ext cx="2031492" cy="164592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op stripe Deep Learning"/>
          <p:cNvSpPr/>
          <p:nvPr/>
        </p:nvSpPr>
        <p:spPr>
          <a:xfrm>
            <a:off x="4062984" y="0"/>
            <a:ext cx="2031492" cy="164592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Bottom stripe Deep Learning"/>
          <p:cNvSpPr/>
          <p:nvPr/>
        </p:nvSpPr>
        <p:spPr>
          <a:xfrm>
            <a:off x="4062984" y="6693408"/>
            <a:ext cx="2031492" cy="164592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Top stripe Applied AI"/>
          <p:cNvSpPr/>
          <p:nvPr/>
        </p:nvSpPr>
        <p:spPr>
          <a:xfrm>
            <a:off x="6094476" y="0"/>
            <a:ext cx="2031492" cy="16459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Bottom stripe Applied AI"/>
          <p:cNvSpPr/>
          <p:nvPr/>
        </p:nvSpPr>
        <p:spPr>
          <a:xfrm>
            <a:off x="6094476" y="6693408"/>
            <a:ext cx="2031492" cy="16459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op stripe MLOps &amp; Engineering"/>
          <p:cNvSpPr/>
          <p:nvPr/>
        </p:nvSpPr>
        <p:spPr>
          <a:xfrm>
            <a:off x="8125968" y="0"/>
            <a:ext cx="2031492" cy="164592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Bottom stripe MLOps &amp; Engineering"/>
          <p:cNvSpPr/>
          <p:nvPr/>
        </p:nvSpPr>
        <p:spPr>
          <a:xfrm>
            <a:off x="8125968" y="6693408"/>
            <a:ext cx="2031492" cy="164592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Top stripe Responsible AI &amp; Research"/>
          <p:cNvSpPr/>
          <p:nvPr/>
        </p:nvSpPr>
        <p:spPr>
          <a:xfrm>
            <a:off x="10157460" y="0"/>
            <a:ext cx="2031492" cy="164592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Bottom stripe Responsible AI &amp; Research"/>
          <p:cNvSpPr/>
          <p:nvPr/>
        </p:nvSpPr>
        <p:spPr>
          <a:xfrm>
            <a:off x="10157460" y="6693408"/>
            <a:ext cx="2031492" cy="164592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1371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800" kern="0" dirty="0">
                <a:solidFill>
                  <a:schemeClr val="accent3"/>
                </a:solidFill>
              </a:rPr>
              <a:t>THE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178308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AI &amp; Machine Learning Tree</a:t>
            </a:r>
            <a:endParaRPr lang="en-US" sz="54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29260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Math  |  Classical ML  |  Deep Learning  |  Applied AI  |  MLOps  |  Responsible AI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3474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Developed by Syed Muhammad Tayyab</a:t>
            </a:r>
            <a:endParaRPr lang="en-US" sz="2200" dirty="0"/>
          </a:p>
        </p:txBody>
      </p:sp>
      <p:sp>
        <p:nvSpPr>
          <p:cNvPr id="18" name="Stat branches"/>
          <p:cNvSpPr/>
          <p:nvPr/>
        </p:nvSpPr>
        <p:spPr>
          <a:xfrm>
            <a:off x="822960" y="4206240"/>
            <a:ext cx="210312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42976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6</a:t>
            </a:r>
            <a:endParaRPr lang="en-US" sz="44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5029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branches</a:t>
            </a:r>
            <a:endParaRPr lang="en-US" sz="1400" dirty="0"/>
          </a:p>
        </p:txBody>
      </p:sp>
      <p:sp>
        <p:nvSpPr>
          <p:cNvPr id="21" name="Stat fields"/>
          <p:cNvSpPr/>
          <p:nvPr/>
        </p:nvSpPr>
        <p:spPr>
          <a:xfrm>
            <a:off x="3154680" y="4206240"/>
            <a:ext cx="210312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154680" y="42976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28</a:t>
            </a:r>
            <a:endParaRPr lang="en-US" sz="4400" dirty="0"/>
          </a:p>
        </p:txBody>
      </p:sp>
      <p:sp>
        <p:nvSpPr>
          <p:cNvPr id="23" name="Text 21"/>
          <p:cNvSpPr txBox="1"/>
          <p:nvPr/>
        </p:nvSpPr>
        <p:spPr>
          <a:xfrm>
            <a:off x="3154680" y="5029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fields</a:t>
            </a:r>
            <a:endParaRPr lang="en-US" sz="1400" dirty="0"/>
          </a:p>
        </p:txBody>
      </p:sp>
      <p:sp>
        <p:nvSpPr>
          <p:cNvPr id="24" name="Stat tools"/>
          <p:cNvSpPr/>
          <p:nvPr/>
        </p:nvSpPr>
        <p:spPr>
          <a:xfrm>
            <a:off x="5486400" y="4206240"/>
            <a:ext cx="210312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0" y="42976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121</a:t>
            </a:r>
            <a:endParaRPr lang="en-US" sz="44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0" y="5029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tools</a:t>
            </a:r>
            <a:endParaRPr lang="en-US" sz="1400" dirty="0"/>
          </a:p>
        </p:txBody>
      </p:sp>
      <p:sp>
        <p:nvSpPr>
          <p:cNvPr id="27" name="Stat links"/>
          <p:cNvSpPr/>
          <p:nvPr/>
        </p:nvSpPr>
        <p:spPr>
          <a:xfrm>
            <a:off x="7818120" y="4206240"/>
            <a:ext cx="210312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818120" y="42976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39</a:t>
            </a:r>
            <a:endParaRPr lang="en-US" sz="4400" dirty="0"/>
          </a:p>
        </p:txBody>
      </p:sp>
      <p:sp>
        <p:nvSpPr>
          <p:cNvPr id="29" name="Text 27"/>
          <p:cNvSpPr txBox="1"/>
          <p:nvPr/>
        </p:nvSpPr>
        <p:spPr>
          <a:xfrm>
            <a:off x="7818120" y="5029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links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github.com/Syed-Muhammad-Tayyab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The Full Tree</a:t>
            </a:r>
            <a:endParaRPr lang="en-US" sz="3000" dirty="0"/>
          </a:p>
        </p:txBody>
      </p:sp>
      <p:pic>
        <p:nvPicPr>
          <p:cNvPr id="3" name="Tree picture" descr="/mnt/user-data/outputs/aiml_tre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6583680" cy="6026599"/>
          </a:xfrm>
          <a:prstGeom prst="rect">
            <a:avLst/>
          </a:prstGeom>
        </p:spPr>
      </p:pic>
      <p:sp>
        <p:nvSpPr>
          <p:cNvPr id="4" name="Legend Root"/>
          <p:cNvSpPr/>
          <p:nvPr/>
        </p:nvSpPr>
        <p:spPr>
          <a:xfrm>
            <a:off x="7589520" y="1188720"/>
            <a:ext cx="4023360" cy="100584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Legend accent Root"/>
          <p:cNvSpPr/>
          <p:nvPr/>
        </p:nvSpPr>
        <p:spPr>
          <a:xfrm>
            <a:off x="7589520" y="1188720"/>
            <a:ext cx="82296" cy="10058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863840" y="12801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Root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AI &amp; Machine Learning</a:t>
            </a:r>
            <a:endParaRPr lang="en-US" sz="1600" dirty="0"/>
          </a:p>
        </p:txBody>
      </p:sp>
      <p:sp>
        <p:nvSpPr>
          <p:cNvPr id="7" name="Legend Branches"/>
          <p:cNvSpPr/>
          <p:nvPr/>
        </p:nvSpPr>
        <p:spPr>
          <a:xfrm>
            <a:off x="7589520" y="2377440"/>
            <a:ext cx="4023360" cy="100584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Legend accent Branches"/>
          <p:cNvSpPr/>
          <p:nvPr/>
        </p:nvSpPr>
        <p:spPr>
          <a:xfrm>
            <a:off x="7589520" y="2377440"/>
            <a:ext cx="82296" cy="10058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863840" y="24688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Branches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6 learning areas</a:t>
            </a:r>
            <a:endParaRPr lang="en-US" sz="1600" dirty="0"/>
          </a:p>
        </p:txBody>
      </p:sp>
      <p:sp>
        <p:nvSpPr>
          <p:cNvPr id="10" name="Legend Fields"/>
          <p:cNvSpPr/>
          <p:nvPr/>
        </p:nvSpPr>
        <p:spPr>
          <a:xfrm>
            <a:off x="7589520" y="3566160"/>
            <a:ext cx="4023360" cy="100584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Legend accent Fields"/>
          <p:cNvSpPr/>
          <p:nvPr/>
        </p:nvSpPr>
        <p:spPr>
          <a:xfrm>
            <a:off x="7589520" y="3566160"/>
            <a:ext cx="82296" cy="10058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863840" y="36576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Fields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28 specialties</a:t>
            </a:r>
            <a:endParaRPr lang="en-US" sz="1600" dirty="0"/>
          </a:p>
        </p:txBody>
      </p:sp>
      <p:sp>
        <p:nvSpPr>
          <p:cNvPr id="13" name="Legend Leaves"/>
          <p:cNvSpPr/>
          <p:nvPr/>
        </p:nvSpPr>
        <p:spPr>
          <a:xfrm>
            <a:off x="7589520" y="4754880"/>
            <a:ext cx="4023360" cy="100584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Legend accent Leaves"/>
          <p:cNvSpPr/>
          <p:nvPr/>
        </p:nvSpPr>
        <p:spPr>
          <a:xfrm>
            <a:off x="7589520" y="4754880"/>
            <a:ext cx="82296" cy="100584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863840" y="48463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Leaves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sub-fields + tools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7589520" y="59893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Full-size PNG included for GitHub and posters.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78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Six Branches, One Goal</a:t>
            </a:r>
            <a:endParaRPr lang="en-US" sz="3000" dirty="0"/>
          </a:p>
        </p:txBody>
      </p:sp>
      <p:sp>
        <p:nvSpPr>
          <p:cNvPr id="3" name="Branch Foundations"/>
          <p:cNvSpPr/>
          <p:nvPr/>
        </p:nvSpPr>
        <p:spPr>
          <a:xfrm>
            <a:off x="548640" y="1371600"/>
            <a:ext cx="3566160" cy="237744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Branch bar Foundations"/>
          <p:cNvSpPr/>
          <p:nvPr/>
        </p:nvSpPr>
        <p:spPr>
          <a:xfrm>
            <a:off x="548640" y="1371600"/>
            <a:ext cx="3566160" cy="10972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3154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MATH, CODE &amp; DATA</a:t>
            </a:r>
            <a:endParaRPr lang="en-US" sz="10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2200" b="1" dirty="0">
                <a:solidFill>
                  <a:schemeClr val="bg1"/>
                </a:solidFill>
              </a:rPr>
              <a:t>Foundations</a:t>
            </a:r>
            <a:endParaRPr lang="en-US" sz="10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300" dirty="0">
                <a:solidFill>
                  <a:schemeClr val="bg2"/>
                </a:solidFill>
              </a:rPr>
              <a:t>Math, code and data: the base of every model</a:t>
            </a:r>
            <a:endParaRPr lang="en-US" sz="10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300" b="1" dirty="0">
                <a:solidFill>
                  <a:schemeClr val="accent1"/>
                </a:solidFill>
              </a:rPr>
              <a:t>4 fields</a:t>
            </a:r>
            <a:endParaRPr lang="en-US" sz="1000" dirty="0"/>
          </a:p>
        </p:txBody>
      </p:sp>
      <p:sp>
        <p:nvSpPr>
          <p:cNvPr id="6" name="Branch Classical ML"/>
          <p:cNvSpPr/>
          <p:nvPr/>
        </p:nvSpPr>
        <p:spPr>
          <a:xfrm>
            <a:off x="4297680" y="1371600"/>
            <a:ext cx="3566160" cy="237744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Branch bar Classical ML"/>
          <p:cNvSpPr/>
          <p:nvPr/>
        </p:nvSpPr>
        <p:spPr>
          <a:xfrm>
            <a:off x="4297680" y="1371600"/>
            <a:ext cx="3566160" cy="10972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26280" y="1600200"/>
            <a:ext cx="3154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CORE LEARNING</a:t>
            </a:r>
            <a:endParaRPr lang="en-US" sz="10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2200" b="1" dirty="0">
                <a:solidFill>
                  <a:schemeClr val="bg1"/>
                </a:solidFill>
              </a:rPr>
              <a:t>Classical ML</a:t>
            </a:r>
            <a:endParaRPr lang="en-US" sz="10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300" dirty="0">
                <a:solidFill>
                  <a:schemeClr val="bg2"/>
                </a:solidFill>
              </a:rPr>
              <a:t>Learn patterns from data without deep nets</a:t>
            </a:r>
            <a:endParaRPr lang="en-US" sz="10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300" b="1" dirty="0">
                <a:solidFill>
                  <a:schemeClr val="accent3"/>
                </a:solidFill>
              </a:rPr>
              <a:t>5 fields</a:t>
            </a:r>
            <a:endParaRPr lang="en-US" sz="1000" dirty="0"/>
          </a:p>
        </p:txBody>
      </p:sp>
      <p:sp>
        <p:nvSpPr>
          <p:cNvPr id="9" name="Branch Deep Learning"/>
          <p:cNvSpPr/>
          <p:nvPr/>
        </p:nvSpPr>
        <p:spPr>
          <a:xfrm>
            <a:off x="8046720" y="1371600"/>
            <a:ext cx="3566160" cy="237744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Branch bar Deep Learning"/>
          <p:cNvSpPr/>
          <p:nvPr/>
        </p:nvSpPr>
        <p:spPr>
          <a:xfrm>
            <a:off x="8046720" y="1371600"/>
            <a:ext cx="3566160" cy="10972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75320" y="1600200"/>
            <a:ext cx="3154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NEURAL NETWORKS</a:t>
            </a:r>
            <a:endParaRPr lang="en-US" sz="10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2200" b="1" dirty="0">
                <a:solidFill>
                  <a:schemeClr val="bg1"/>
                </a:solidFill>
              </a:rPr>
              <a:t>Deep Learning</a:t>
            </a:r>
            <a:endParaRPr lang="en-US" sz="10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300" dirty="0">
                <a:solidFill>
                  <a:schemeClr val="bg2"/>
                </a:solidFill>
              </a:rPr>
              <a:t>Layers, attention and generative models</a:t>
            </a:r>
            <a:endParaRPr lang="en-US" sz="10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300" b="1" dirty="0">
                <a:solidFill>
                  <a:schemeClr val="accent4"/>
                </a:solidFill>
              </a:rPr>
              <a:t>6 fields</a:t>
            </a:r>
            <a:endParaRPr lang="en-US" sz="1000" dirty="0"/>
          </a:p>
        </p:txBody>
      </p:sp>
      <p:sp>
        <p:nvSpPr>
          <p:cNvPr id="12" name="Branch Applied AI"/>
          <p:cNvSpPr/>
          <p:nvPr/>
        </p:nvSpPr>
        <p:spPr>
          <a:xfrm>
            <a:off x="548640" y="3931920"/>
            <a:ext cx="3566160" cy="237744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Branch bar Applied AI"/>
          <p:cNvSpPr/>
          <p:nvPr/>
        </p:nvSpPr>
        <p:spPr>
          <a:xfrm>
            <a:off x="548640" y="3931920"/>
            <a:ext cx="3566160" cy="109728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4160520"/>
            <a:ext cx="3154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REAL-WORLD USE</a:t>
            </a:r>
            <a:endParaRPr lang="en-US" sz="10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2200" b="1" dirty="0">
                <a:solidFill>
                  <a:schemeClr val="bg1"/>
                </a:solidFill>
              </a:rPr>
              <a:t>Applied AI</a:t>
            </a:r>
            <a:endParaRPr lang="en-US" sz="10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300" dirty="0">
                <a:solidFill>
                  <a:schemeClr val="bg2"/>
                </a:solidFill>
              </a:rPr>
              <a:t>Vision, language, speech, recommenders and robots</a:t>
            </a:r>
            <a:endParaRPr lang="en-US" sz="10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300" b="1" dirty="0">
                <a:solidFill>
                  <a:schemeClr val="accent2"/>
                </a:solidFill>
              </a:rPr>
              <a:t>6 fields</a:t>
            </a:r>
            <a:endParaRPr lang="en-US" sz="1000" dirty="0"/>
          </a:p>
        </p:txBody>
      </p:sp>
      <p:sp>
        <p:nvSpPr>
          <p:cNvPr id="15" name="Branch MLOps &amp; Engineering"/>
          <p:cNvSpPr/>
          <p:nvPr/>
        </p:nvSpPr>
        <p:spPr>
          <a:xfrm>
            <a:off x="4297680" y="3931920"/>
            <a:ext cx="3566160" cy="237744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6" name="Branch bar MLOps &amp; Engineering"/>
          <p:cNvSpPr/>
          <p:nvPr/>
        </p:nvSpPr>
        <p:spPr>
          <a:xfrm>
            <a:off x="4297680" y="3931920"/>
            <a:ext cx="3566160" cy="109728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26280" y="4160520"/>
            <a:ext cx="3154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PRODUCTION</a:t>
            </a:r>
            <a:endParaRPr lang="en-US" sz="10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2200" b="1" dirty="0">
                <a:solidFill>
                  <a:schemeClr val="bg1"/>
                </a:solidFill>
              </a:rPr>
              <a:t>MLOps &amp; Engineering</a:t>
            </a:r>
            <a:endParaRPr lang="en-US" sz="10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300" dirty="0">
                <a:solidFill>
                  <a:schemeClr val="bg2"/>
                </a:solidFill>
              </a:rPr>
              <a:t>Ship, scale and monitor models</a:t>
            </a:r>
            <a:endParaRPr lang="en-US" sz="10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300" b="1" dirty="0">
                <a:solidFill>
                  <a:schemeClr val="accent5"/>
                </a:solidFill>
              </a:rPr>
              <a:t>4 fields</a:t>
            </a:r>
            <a:endParaRPr lang="en-US" sz="1000" dirty="0"/>
          </a:p>
        </p:txBody>
      </p:sp>
      <p:sp>
        <p:nvSpPr>
          <p:cNvPr id="18" name="Branch Responsible AI &amp; Research"/>
          <p:cNvSpPr/>
          <p:nvPr/>
        </p:nvSpPr>
        <p:spPr>
          <a:xfrm>
            <a:off x="8046720" y="3931920"/>
            <a:ext cx="3566160" cy="237744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9" name="Branch bar Responsible AI &amp; Research"/>
          <p:cNvSpPr/>
          <p:nvPr/>
        </p:nvSpPr>
        <p:spPr>
          <a:xfrm>
            <a:off x="8046720" y="3931920"/>
            <a:ext cx="3566160" cy="109728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75320" y="4160520"/>
            <a:ext cx="3154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TRUST &amp; SCIENCE</a:t>
            </a:r>
            <a:endParaRPr lang="en-US" sz="10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2200" b="1" dirty="0">
                <a:solidFill>
                  <a:schemeClr val="bg1"/>
                </a:solidFill>
              </a:rPr>
              <a:t>Responsible AI &amp; Research</a:t>
            </a:r>
            <a:endParaRPr lang="en-US" sz="10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300" dirty="0">
                <a:solidFill>
                  <a:schemeClr val="bg2"/>
                </a:solidFill>
              </a:rPr>
              <a:t>Ethics, safety, explainability and papers</a:t>
            </a:r>
            <a:endParaRPr lang="en-US" sz="10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300" b="1" dirty="0">
                <a:solidFill>
                  <a:schemeClr val="accent6"/>
                </a:solidFill>
              </a:rPr>
              <a:t>3 fields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78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Foundations: Math, Code &amp; Data</a:t>
            </a:r>
            <a:endParaRPr lang="en-US" sz="3000" dirty="0"/>
          </a:p>
        </p:txBody>
      </p:sp>
      <p:sp>
        <p:nvSpPr>
          <p:cNvPr id="3" name="Card Mathematics for ML"/>
          <p:cNvSpPr/>
          <p:nvPr/>
        </p:nvSpPr>
        <p:spPr>
          <a:xfrm>
            <a:off x="548640" y="1280160"/>
            <a:ext cx="5440680" cy="237744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Accent Mathematics for ML"/>
          <p:cNvSpPr/>
          <p:nvPr/>
        </p:nvSpPr>
        <p:spPr>
          <a:xfrm>
            <a:off x="548640" y="1280160"/>
            <a:ext cx="82296" cy="23774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Mathematics for ML"/>
          <p:cNvSpPr txBox="1"/>
          <p:nvPr/>
        </p:nvSpPr>
        <p:spPr>
          <a:xfrm>
            <a:off x="749808" y="1353312"/>
            <a:ext cx="511149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Mathematics for ML</a:t>
            </a:r>
            <a:endParaRPr lang="en-US" sz="2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600" dirty="0">
                <a:solidFill>
                  <a:schemeClr val="bg2"/>
                </a:solidFill>
              </a:rPr>
              <a:t>Linear Algebra · Calculus · Probability · Statistics · Optimization</a:t>
            </a:r>
            <a:endParaRPr lang="en-US" sz="22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400" dirty="0">
                <a:solidFill>
                  <a:schemeClr val="accent1"/>
                </a:solidFill>
              </a:rPr>
              <a:t>Tools: NumPy, SymPy, Desmos, Wolfram Alpha</a:t>
            </a:r>
            <a:endParaRPr lang="en-US" sz="22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chemeClr val="bg2"/>
                </a:solidFill>
              </a:rPr>
              <a:t>Certs: Khan Academy, MIT 18.06, 3Blue1Brown</a:t>
            </a:r>
            <a:endParaRPr lang="en-US" sz="2200" dirty="0"/>
          </a:p>
        </p:txBody>
      </p:sp>
      <p:sp>
        <p:nvSpPr>
          <p:cNvPr id="6" name="Card Python &amp; Dev Tools"/>
          <p:cNvSpPr/>
          <p:nvPr/>
        </p:nvSpPr>
        <p:spPr>
          <a:xfrm>
            <a:off x="6172200" y="1280160"/>
            <a:ext cx="5440680" cy="237744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Accent Python &amp; Dev Tools"/>
          <p:cNvSpPr/>
          <p:nvPr/>
        </p:nvSpPr>
        <p:spPr>
          <a:xfrm>
            <a:off x="6172200" y="1280160"/>
            <a:ext cx="82296" cy="23774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Python &amp; Dev Tools"/>
          <p:cNvSpPr txBox="1"/>
          <p:nvPr/>
        </p:nvSpPr>
        <p:spPr>
          <a:xfrm>
            <a:off x="6373368" y="1353312"/>
            <a:ext cx="511149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Python &amp; Dev Tools</a:t>
            </a:r>
            <a:endParaRPr lang="en-US" sz="2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600" dirty="0">
                <a:solidFill>
                  <a:schemeClr val="bg2"/>
                </a:solidFill>
              </a:rPr>
              <a:t>Python · NumPy / Pandas · Git &amp; GitHub · Jupyter / Colab</a:t>
            </a:r>
            <a:endParaRPr lang="en-US" sz="22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400" dirty="0">
                <a:solidFill>
                  <a:schemeClr val="accent1"/>
                </a:solidFill>
              </a:rPr>
              <a:t>Tools: Python, VS Code, Jupyter, Git, Conda</a:t>
            </a:r>
            <a:endParaRPr lang="en-US" sz="22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chemeClr val="bg2"/>
                </a:solidFill>
              </a:rPr>
              <a:t>Certs: CS50P, Python for Everybody</a:t>
            </a:r>
            <a:endParaRPr lang="en-US" sz="2200" dirty="0"/>
          </a:p>
        </p:txBody>
      </p:sp>
      <p:sp>
        <p:nvSpPr>
          <p:cNvPr id="9" name="Card Data Engineering"/>
          <p:cNvSpPr/>
          <p:nvPr/>
        </p:nvSpPr>
        <p:spPr>
          <a:xfrm>
            <a:off x="548640" y="3840480"/>
            <a:ext cx="5440680" cy="237744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Accent Data Engineering"/>
          <p:cNvSpPr/>
          <p:nvPr/>
        </p:nvSpPr>
        <p:spPr>
          <a:xfrm>
            <a:off x="548640" y="3840480"/>
            <a:ext cx="82296" cy="23774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Data Engineering"/>
          <p:cNvSpPr txBox="1"/>
          <p:nvPr/>
        </p:nvSpPr>
        <p:spPr>
          <a:xfrm>
            <a:off x="749808" y="3913632"/>
            <a:ext cx="511149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Data Engineering</a:t>
            </a:r>
            <a:endParaRPr lang="en-US" sz="2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600" dirty="0">
                <a:solidFill>
                  <a:schemeClr val="bg2"/>
                </a:solidFill>
              </a:rPr>
              <a:t>SQL &amp; NoSQL · ETL / ELT · Spark &amp; Big Data · Data Cleaning</a:t>
            </a:r>
            <a:endParaRPr lang="en-US" sz="22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400" dirty="0">
                <a:solidFill>
                  <a:schemeClr val="accent1"/>
                </a:solidFill>
              </a:rPr>
              <a:t>Tools: PostgreSQL, MongoDB, Spark, Airflow, dbt</a:t>
            </a:r>
            <a:endParaRPr lang="en-US" sz="22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chemeClr val="bg2"/>
                </a:solidFill>
              </a:rPr>
              <a:t>Certs: Google Data Analytics, Databricks Associate</a:t>
            </a:r>
            <a:endParaRPr lang="en-US" sz="2200" dirty="0"/>
          </a:p>
        </p:txBody>
      </p:sp>
      <p:sp>
        <p:nvSpPr>
          <p:cNvPr id="12" name="Card Data Analysis &amp; Visualization"/>
          <p:cNvSpPr/>
          <p:nvPr/>
        </p:nvSpPr>
        <p:spPr>
          <a:xfrm>
            <a:off x="6172200" y="3840480"/>
            <a:ext cx="5440680" cy="237744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Accent Data Analysis &amp; Visualization"/>
          <p:cNvSpPr/>
          <p:nvPr/>
        </p:nvSpPr>
        <p:spPr>
          <a:xfrm>
            <a:off x="6172200" y="3840480"/>
            <a:ext cx="82296" cy="23774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Data Analysis &amp; Visualization"/>
          <p:cNvSpPr txBox="1"/>
          <p:nvPr/>
        </p:nvSpPr>
        <p:spPr>
          <a:xfrm>
            <a:off x="6373368" y="3913632"/>
            <a:ext cx="511149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Data Analysis &amp; Visualization</a:t>
            </a:r>
            <a:endParaRPr lang="en-US" sz="2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600" dirty="0">
                <a:solidFill>
                  <a:schemeClr val="bg2"/>
                </a:solidFill>
              </a:rPr>
              <a:t>EDA · Statistical Tests · Dashboards · Storytelling</a:t>
            </a:r>
            <a:endParaRPr lang="en-US" sz="22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400" dirty="0">
                <a:solidFill>
                  <a:schemeClr val="accent1"/>
                </a:solidFill>
              </a:rPr>
              <a:t>Tools: Matplotlib, Seaborn, Plotly, Tableau, Power BI</a:t>
            </a:r>
            <a:endParaRPr lang="en-US" sz="22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chemeClr val="bg2"/>
                </a:solidFill>
              </a:rPr>
              <a:t>Certs: IBM Data Analyst, Kaggle Data Viz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78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Classical Machine Learning</a:t>
            </a:r>
            <a:endParaRPr lang="en-US" sz="3000" dirty="0"/>
          </a:p>
        </p:txBody>
      </p:sp>
      <p:sp>
        <p:nvSpPr>
          <p:cNvPr id="3" name="Card Supervised Learning"/>
          <p:cNvSpPr/>
          <p:nvPr/>
        </p:nvSpPr>
        <p:spPr>
          <a:xfrm>
            <a:off x="548640" y="1280160"/>
            <a:ext cx="3566160" cy="237744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Accent Supervised Learning"/>
          <p:cNvSpPr/>
          <p:nvPr/>
        </p:nvSpPr>
        <p:spPr>
          <a:xfrm>
            <a:off x="548640" y="1280160"/>
            <a:ext cx="82296" cy="23774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Supervised Learning"/>
          <p:cNvSpPr txBox="1"/>
          <p:nvPr/>
        </p:nvSpPr>
        <p:spPr>
          <a:xfrm>
            <a:off x="749808" y="1353312"/>
            <a:ext cx="323697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Supervised Learning</a:t>
            </a:r>
            <a:endParaRPr lang="en-US" sz="17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chemeClr val="bg2"/>
                </a:solidFill>
              </a:rPr>
              <a:t>Linear / Logistic Regression · Trees &amp; Random Forest · SVM &amp; KNN · Boosting (XGBoost)</a:t>
            </a:r>
            <a:endParaRPr lang="en-US" sz="17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200" dirty="0">
                <a:solidFill>
                  <a:schemeClr val="accent3"/>
                </a:solidFill>
              </a:rPr>
              <a:t>Tools: scikit-learn, XGBoost, LightGBM, CatBoost</a:t>
            </a:r>
            <a:endParaRPr lang="en-US" sz="17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chemeClr val="bg2"/>
                </a:solidFill>
              </a:rPr>
              <a:t>Certs: Andrew Ng ML Specialization, Kaggle Intro to ML</a:t>
            </a:r>
            <a:endParaRPr lang="en-US" sz="1700" dirty="0"/>
          </a:p>
        </p:txBody>
      </p:sp>
      <p:sp>
        <p:nvSpPr>
          <p:cNvPr id="6" name="Card Unsupervised Learning"/>
          <p:cNvSpPr/>
          <p:nvPr/>
        </p:nvSpPr>
        <p:spPr>
          <a:xfrm>
            <a:off x="4297680" y="1280160"/>
            <a:ext cx="3566160" cy="237744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Accent Unsupervised Learning"/>
          <p:cNvSpPr/>
          <p:nvPr/>
        </p:nvSpPr>
        <p:spPr>
          <a:xfrm>
            <a:off x="4297680" y="1280160"/>
            <a:ext cx="82296" cy="23774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Unsupervised Learning"/>
          <p:cNvSpPr txBox="1"/>
          <p:nvPr/>
        </p:nvSpPr>
        <p:spPr>
          <a:xfrm>
            <a:off x="4498848" y="1353312"/>
            <a:ext cx="323697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Unsupervised Learning</a:t>
            </a:r>
            <a:endParaRPr lang="en-US" sz="17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chemeClr val="bg2"/>
                </a:solidFill>
              </a:rPr>
              <a:t>Clustering · PCA / t-SNE / UMAP · Anomaly Detection · Association Rules</a:t>
            </a:r>
            <a:endParaRPr lang="en-US" sz="17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200" dirty="0">
                <a:solidFill>
                  <a:schemeClr val="accent3"/>
                </a:solidFill>
              </a:rPr>
              <a:t>Tools: scikit-learn, UMAP, HDBSCAN, mlxtend</a:t>
            </a:r>
            <a:endParaRPr lang="en-US" sz="17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chemeClr val="bg2"/>
                </a:solidFill>
              </a:rPr>
              <a:t>Certs: Unsupervised Learning (Coursera)</a:t>
            </a:r>
            <a:endParaRPr lang="en-US" sz="1700" dirty="0"/>
          </a:p>
        </p:txBody>
      </p:sp>
      <p:sp>
        <p:nvSpPr>
          <p:cNvPr id="9" name="Card Feature Engineering &amp; Evaluation"/>
          <p:cNvSpPr/>
          <p:nvPr/>
        </p:nvSpPr>
        <p:spPr>
          <a:xfrm>
            <a:off x="8046720" y="1280160"/>
            <a:ext cx="3566160" cy="237744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Accent Feature Engineering &amp; Evaluation"/>
          <p:cNvSpPr/>
          <p:nvPr/>
        </p:nvSpPr>
        <p:spPr>
          <a:xfrm>
            <a:off x="8046720" y="1280160"/>
            <a:ext cx="82296" cy="23774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ext Feature Engineering &amp; Evaluation"/>
          <p:cNvSpPr txBox="1"/>
          <p:nvPr/>
        </p:nvSpPr>
        <p:spPr>
          <a:xfrm>
            <a:off x="8247888" y="1353312"/>
            <a:ext cx="323697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Feature Engineering &amp; Evaluation</a:t>
            </a:r>
            <a:endParaRPr lang="en-US" sz="17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chemeClr val="bg2"/>
                </a:solidFill>
              </a:rPr>
              <a:t>Feature Selection · Cross-Validation · Metrics (F1, AUC) · Hyperparameter Tuning</a:t>
            </a:r>
            <a:endParaRPr lang="en-US" sz="17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200" dirty="0">
                <a:solidFill>
                  <a:schemeClr val="accent3"/>
                </a:solidFill>
              </a:rPr>
              <a:t>Tools: scikit-learn, Optuna, Featuretools, Yellowbrick</a:t>
            </a:r>
            <a:endParaRPr lang="en-US" sz="17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chemeClr val="bg2"/>
                </a:solidFill>
              </a:rPr>
              <a:t>Certs: Kaggle Feature Engineering</a:t>
            </a:r>
            <a:endParaRPr lang="en-US" sz="1700" dirty="0"/>
          </a:p>
        </p:txBody>
      </p:sp>
      <p:sp>
        <p:nvSpPr>
          <p:cNvPr id="12" name="Card Time Series &amp; Probabilistic Models"/>
          <p:cNvSpPr/>
          <p:nvPr/>
        </p:nvSpPr>
        <p:spPr>
          <a:xfrm>
            <a:off x="548640" y="3840480"/>
            <a:ext cx="5440680" cy="237744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Accent Time Series &amp; Probabilistic Models"/>
          <p:cNvSpPr/>
          <p:nvPr/>
        </p:nvSpPr>
        <p:spPr>
          <a:xfrm>
            <a:off x="548640" y="3840480"/>
            <a:ext cx="82296" cy="23774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Time Series &amp; Probabilistic Models"/>
          <p:cNvSpPr txBox="1"/>
          <p:nvPr/>
        </p:nvSpPr>
        <p:spPr>
          <a:xfrm>
            <a:off x="749808" y="3913632"/>
            <a:ext cx="511149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Time Series &amp; Probabilistic Models</a:t>
            </a:r>
            <a:endParaRPr lang="en-US" sz="17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chemeClr val="bg2"/>
                </a:solidFill>
              </a:rPr>
              <a:t>ARIMA / Prophet · Bayesian Methods · HMM · Forecasting</a:t>
            </a:r>
            <a:endParaRPr lang="en-US" sz="17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200" dirty="0">
                <a:solidFill>
                  <a:schemeClr val="accent3"/>
                </a:solidFill>
              </a:rPr>
              <a:t>Tools: statsmodels, Prophet, PyMC, sktime</a:t>
            </a:r>
            <a:endParaRPr lang="en-US" sz="17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chemeClr val="bg2"/>
                </a:solidFill>
              </a:rPr>
              <a:t>Certs: Kaggle Time Series</a:t>
            </a:r>
            <a:endParaRPr lang="en-US" sz="1700" dirty="0"/>
          </a:p>
        </p:txBody>
      </p:sp>
      <p:sp>
        <p:nvSpPr>
          <p:cNvPr id="15" name="Card Reinforcement Learning"/>
          <p:cNvSpPr/>
          <p:nvPr/>
        </p:nvSpPr>
        <p:spPr>
          <a:xfrm>
            <a:off x="6172200" y="3840480"/>
            <a:ext cx="5440680" cy="237744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Accent Reinforcement Learning"/>
          <p:cNvSpPr/>
          <p:nvPr/>
        </p:nvSpPr>
        <p:spPr>
          <a:xfrm>
            <a:off x="6172200" y="3840480"/>
            <a:ext cx="82296" cy="23774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Text Reinforcement Learning"/>
          <p:cNvSpPr txBox="1"/>
          <p:nvPr/>
        </p:nvSpPr>
        <p:spPr>
          <a:xfrm>
            <a:off x="6373368" y="3913632"/>
            <a:ext cx="511149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Reinforcement Learning</a:t>
            </a:r>
            <a:endParaRPr lang="en-US" sz="17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chemeClr val="bg2"/>
                </a:solidFill>
              </a:rPr>
              <a:t>MDPs · Q-Learning / DQN · Policy Gradients · PPO / Actor-Critic</a:t>
            </a:r>
            <a:endParaRPr lang="en-US" sz="17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200" dirty="0">
                <a:solidFill>
                  <a:schemeClr val="accent3"/>
                </a:solidFill>
              </a:rPr>
              <a:t>Tools: Gymnasium, Stable-Baselines3, RLlib, CleanRL</a:t>
            </a:r>
            <a:endParaRPr lang="en-US" sz="17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chemeClr val="bg2"/>
                </a:solidFill>
              </a:rPr>
              <a:t>Certs: David Silver RL, HF Deep RL Course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78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Deep Learning</a:t>
            </a:r>
            <a:endParaRPr lang="en-US" sz="3000" dirty="0"/>
          </a:p>
        </p:txBody>
      </p:sp>
      <p:sp>
        <p:nvSpPr>
          <p:cNvPr id="3" name="Card Neural Network Fundamentals"/>
          <p:cNvSpPr/>
          <p:nvPr/>
        </p:nvSpPr>
        <p:spPr>
          <a:xfrm>
            <a:off x="548640" y="1280160"/>
            <a:ext cx="3566160" cy="237744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Accent Neural Network Fundamentals"/>
          <p:cNvSpPr/>
          <p:nvPr/>
        </p:nvSpPr>
        <p:spPr>
          <a:xfrm>
            <a:off x="548640" y="1280160"/>
            <a:ext cx="82296" cy="237744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Neural Network Fundamentals"/>
          <p:cNvSpPr txBox="1"/>
          <p:nvPr/>
        </p:nvSpPr>
        <p:spPr>
          <a:xfrm>
            <a:off x="749808" y="1353312"/>
            <a:ext cx="323697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Neural Network Fundamentals</a:t>
            </a:r>
            <a:endParaRPr lang="en-US" sz="16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50" dirty="0">
                <a:solidFill>
                  <a:schemeClr val="bg2"/>
                </a:solidFill>
              </a:rPr>
              <a:t>Perceptron &amp; Backprop · Activations &amp; Loss · Optimizers (Adam) · Regularization</a:t>
            </a:r>
            <a:endParaRPr lang="en-US" sz="16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150" dirty="0">
                <a:solidFill>
                  <a:schemeClr val="accent4"/>
                </a:solidFill>
              </a:rPr>
              <a:t>Tools: PyTorch, TensorFlow, Keras, JAX</a:t>
            </a:r>
            <a:endParaRPr lang="en-US" sz="16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150" dirty="0">
                <a:solidFill>
                  <a:schemeClr val="bg2"/>
                </a:solidFill>
              </a:rPr>
              <a:t>Certs: Deep Learning Specialization, fast.ai Part 1</a:t>
            </a:r>
            <a:endParaRPr lang="en-US" sz="1600" dirty="0"/>
          </a:p>
        </p:txBody>
      </p:sp>
      <p:sp>
        <p:nvSpPr>
          <p:cNvPr id="6" name="Card CNNs"/>
          <p:cNvSpPr/>
          <p:nvPr/>
        </p:nvSpPr>
        <p:spPr>
          <a:xfrm>
            <a:off x="4297680" y="1280160"/>
            <a:ext cx="3566160" cy="237744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Accent CNNs"/>
          <p:cNvSpPr/>
          <p:nvPr/>
        </p:nvSpPr>
        <p:spPr>
          <a:xfrm>
            <a:off x="4297680" y="1280160"/>
            <a:ext cx="82296" cy="237744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Text CNNs"/>
          <p:cNvSpPr txBox="1"/>
          <p:nvPr/>
        </p:nvSpPr>
        <p:spPr>
          <a:xfrm>
            <a:off x="4498848" y="1353312"/>
            <a:ext cx="323697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CNNs</a:t>
            </a:r>
            <a:endParaRPr lang="en-US" sz="16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50" dirty="0">
                <a:solidFill>
                  <a:schemeClr val="bg2"/>
                </a:solidFill>
              </a:rPr>
              <a:t>Convolution &amp; Pooling · ResNet / EfficientNet · Transfer Learning · Augmentation</a:t>
            </a:r>
            <a:endParaRPr lang="en-US" sz="16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150" dirty="0">
                <a:solidFill>
                  <a:schemeClr val="accent4"/>
                </a:solidFill>
              </a:rPr>
              <a:t>Tools: PyTorch, torchvision, timm, Albumentations</a:t>
            </a:r>
            <a:endParaRPr lang="en-US" sz="16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150" dirty="0">
                <a:solidFill>
                  <a:schemeClr val="bg2"/>
                </a:solidFill>
              </a:rPr>
              <a:t>Certs: CS231n</a:t>
            </a:r>
            <a:endParaRPr lang="en-US" sz="1600" dirty="0"/>
          </a:p>
        </p:txBody>
      </p:sp>
      <p:sp>
        <p:nvSpPr>
          <p:cNvPr id="9" name="Card Sequence Models (RNN / LSTM)"/>
          <p:cNvSpPr/>
          <p:nvPr/>
        </p:nvSpPr>
        <p:spPr>
          <a:xfrm>
            <a:off x="8046720" y="1280160"/>
            <a:ext cx="3566160" cy="237744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Accent Sequence Models (RNN / LSTM)"/>
          <p:cNvSpPr/>
          <p:nvPr/>
        </p:nvSpPr>
        <p:spPr>
          <a:xfrm>
            <a:off x="8046720" y="1280160"/>
            <a:ext cx="82296" cy="237744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Text Sequence Models (RNN / LSTM)"/>
          <p:cNvSpPr txBox="1"/>
          <p:nvPr/>
        </p:nvSpPr>
        <p:spPr>
          <a:xfrm>
            <a:off x="8247888" y="1353312"/>
            <a:ext cx="323697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Sequence Models (RNN / LSTM)</a:t>
            </a:r>
            <a:endParaRPr lang="en-US" sz="16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50" dirty="0">
                <a:solidFill>
                  <a:schemeClr val="bg2"/>
                </a:solidFill>
              </a:rPr>
              <a:t>RNN / LSTM / GRU · Seq2Seq · Embeddings · Time-step Models</a:t>
            </a:r>
            <a:endParaRPr lang="en-US" sz="16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150" dirty="0">
                <a:solidFill>
                  <a:schemeClr val="accent4"/>
                </a:solidFill>
              </a:rPr>
              <a:t>Tools: PyTorch, Keras, Gensim</a:t>
            </a:r>
            <a:endParaRPr lang="en-US" sz="16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150" dirty="0">
                <a:solidFill>
                  <a:schemeClr val="bg2"/>
                </a:solidFill>
              </a:rPr>
              <a:t>Certs: Sequence Models (Coursera)</a:t>
            </a:r>
            <a:endParaRPr lang="en-US" sz="1600" dirty="0"/>
          </a:p>
        </p:txBody>
      </p:sp>
      <p:sp>
        <p:nvSpPr>
          <p:cNvPr id="12" name="Card Transformers &amp; Attention"/>
          <p:cNvSpPr/>
          <p:nvPr/>
        </p:nvSpPr>
        <p:spPr>
          <a:xfrm>
            <a:off x="548640" y="3840480"/>
            <a:ext cx="3566160" cy="237744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Accent Transformers &amp; Attention"/>
          <p:cNvSpPr/>
          <p:nvPr/>
        </p:nvSpPr>
        <p:spPr>
          <a:xfrm>
            <a:off x="548640" y="3840480"/>
            <a:ext cx="82296" cy="237744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Text Transformers &amp; Attention"/>
          <p:cNvSpPr txBox="1"/>
          <p:nvPr/>
        </p:nvSpPr>
        <p:spPr>
          <a:xfrm>
            <a:off x="749808" y="3913632"/>
            <a:ext cx="323697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Transformers &amp; Attention</a:t>
            </a:r>
            <a:endParaRPr lang="en-US" sz="16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50" dirty="0">
                <a:solidFill>
                  <a:schemeClr val="bg2"/>
                </a:solidFill>
              </a:rPr>
              <a:t>Self-Attention · BERT / GPT · Vision Transformers · Scaling Laws</a:t>
            </a:r>
            <a:endParaRPr lang="en-US" sz="16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150" dirty="0">
                <a:solidFill>
                  <a:schemeClr val="accent4"/>
                </a:solidFill>
              </a:rPr>
              <a:t>Tools: Hugging Face, PyTorch, Flash-Attention, nanoGPT</a:t>
            </a:r>
            <a:endParaRPr lang="en-US" sz="16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150" dirty="0">
                <a:solidFill>
                  <a:schemeClr val="bg2"/>
                </a:solidFill>
              </a:rPr>
              <a:t>Certs: Karpathy: Zero to Hero, CS224N</a:t>
            </a:r>
            <a:endParaRPr lang="en-US" sz="1600" dirty="0"/>
          </a:p>
        </p:txBody>
      </p:sp>
      <p:sp>
        <p:nvSpPr>
          <p:cNvPr id="15" name="Card Generative Models"/>
          <p:cNvSpPr/>
          <p:nvPr/>
        </p:nvSpPr>
        <p:spPr>
          <a:xfrm>
            <a:off x="4297680" y="3840480"/>
            <a:ext cx="3566160" cy="237744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Accent Generative Models"/>
          <p:cNvSpPr/>
          <p:nvPr/>
        </p:nvSpPr>
        <p:spPr>
          <a:xfrm>
            <a:off x="4297680" y="3840480"/>
            <a:ext cx="82296" cy="237744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Text Generative Models"/>
          <p:cNvSpPr txBox="1"/>
          <p:nvPr/>
        </p:nvSpPr>
        <p:spPr>
          <a:xfrm>
            <a:off x="4498848" y="3913632"/>
            <a:ext cx="323697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Generative Models</a:t>
            </a:r>
            <a:endParaRPr lang="en-US" sz="16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50" dirty="0">
                <a:solidFill>
                  <a:schemeClr val="bg2"/>
                </a:solidFill>
              </a:rPr>
              <a:t>GANs · VAEs · Diffusion Models · Autoregressive Models</a:t>
            </a:r>
            <a:endParaRPr lang="en-US" sz="16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150" dirty="0">
                <a:solidFill>
                  <a:schemeClr val="accent4"/>
                </a:solidFill>
              </a:rPr>
              <a:t>Tools: Diffusers, PyTorch, ComfyUI, Stable Diffusion</a:t>
            </a:r>
            <a:endParaRPr lang="en-US" sz="16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150" dirty="0">
                <a:solidFill>
                  <a:schemeClr val="bg2"/>
                </a:solidFill>
              </a:rPr>
              <a:t>Certs: HF Diffusion Course</a:t>
            </a:r>
            <a:endParaRPr lang="en-US" sz="1600" dirty="0"/>
          </a:p>
        </p:txBody>
      </p:sp>
      <p:sp>
        <p:nvSpPr>
          <p:cNvPr id="18" name="Card Graph &amp; Self-Supervised Learning"/>
          <p:cNvSpPr/>
          <p:nvPr/>
        </p:nvSpPr>
        <p:spPr>
          <a:xfrm>
            <a:off x="8046720" y="3840480"/>
            <a:ext cx="3566160" cy="237744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9" name="Accent Graph &amp; Self-Supervised Learning"/>
          <p:cNvSpPr/>
          <p:nvPr/>
        </p:nvSpPr>
        <p:spPr>
          <a:xfrm>
            <a:off x="8046720" y="3840480"/>
            <a:ext cx="82296" cy="237744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0" name="Text Graph &amp; Self-Supervised Learning"/>
          <p:cNvSpPr txBox="1"/>
          <p:nvPr/>
        </p:nvSpPr>
        <p:spPr>
          <a:xfrm>
            <a:off x="8247888" y="3913632"/>
            <a:ext cx="323697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Graph &amp; Self-Supervised Learning</a:t>
            </a:r>
            <a:endParaRPr lang="en-US" sz="16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50" dirty="0">
                <a:solidFill>
                  <a:schemeClr val="bg2"/>
                </a:solidFill>
              </a:rPr>
              <a:t>Graph Neural Nets · Contrastive Learning · Self-Supervision · Knowledge Graphs</a:t>
            </a:r>
            <a:endParaRPr lang="en-US" sz="16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150" dirty="0">
                <a:solidFill>
                  <a:schemeClr val="accent4"/>
                </a:solidFill>
              </a:rPr>
              <a:t>Tools: PyTorch Geometric, DGL, Neo4j</a:t>
            </a:r>
            <a:endParaRPr lang="en-US" sz="16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150" dirty="0">
                <a:solidFill>
                  <a:schemeClr val="bg2"/>
                </a:solidFill>
              </a:rPr>
              <a:t>Certs: CS224W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78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Applied AI</a:t>
            </a:r>
            <a:endParaRPr lang="en-US" sz="3000" dirty="0"/>
          </a:p>
        </p:txBody>
      </p:sp>
      <p:sp>
        <p:nvSpPr>
          <p:cNvPr id="3" name="Card Computer Vision"/>
          <p:cNvSpPr/>
          <p:nvPr/>
        </p:nvSpPr>
        <p:spPr>
          <a:xfrm>
            <a:off x="548640" y="1280160"/>
            <a:ext cx="3566160" cy="237744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Accent Computer Vision"/>
          <p:cNvSpPr/>
          <p:nvPr/>
        </p:nvSpPr>
        <p:spPr>
          <a:xfrm>
            <a:off x="548640" y="1280160"/>
            <a:ext cx="82296" cy="23774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Computer Vision"/>
          <p:cNvSpPr txBox="1"/>
          <p:nvPr/>
        </p:nvSpPr>
        <p:spPr>
          <a:xfrm>
            <a:off x="749808" y="1353312"/>
            <a:ext cx="323697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Computer Vision</a:t>
            </a:r>
            <a:endParaRPr lang="en-US" sz="16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50" dirty="0">
                <a:solidFill>
                  <a:schemeClr val="bg2"/>
                </a:solidFill>
              </a:rPr>
              <a:t>Classification &amp; Detection · Segmentation · OCR · Pose &amp; Tracking</a:t>
            </a:r>
            <a:endParaRPr lang="en-US" sz="16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150" dirty="0">
                <a:solidFill>
                  <a:schemeClr val="accent2"/>
                </a:solidFill>
              </a:rPr>
              <a:t>Tools: OpenCV, YOLO, Detectron2, MediaPipe</a:t>
            </a:r>
            <a:endParaRPr lang="en-US" sz="16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150" dirty="0">
                <a:solidFill>
                  <a:schemeClr val="bg2"/>
                </a:solidFill>
              </a:rPr>
              <a:t>Certs: CS231n, OpenCV University</a:t>
            </a:r>
            <a:endParaRPr lang="en-US" sz="1600" dirty="0"/>
          </a:p>
        </p:txBody>
      </p:sp>
      <p:sp>
        <p:nvSpPr>
          <p:cNvPr id="6" name="Card Natural Language Processing"/>
          <p:cNvSpPr/>
          <p:nvPr/>
        </p:nvSpPr>
        <p:spPr>
          <a:xfrm>
            <a:off x="4297680" y="1280160"/>
            <a:ext cx="3566160" cy="237744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Accent Natural Language Processing"/>
          <p:cNvSpPr/>
          <p:nvPr/>
        </p:nvSpPr>
        <p:spPr>
          <a:xfrm>
            <a:off x="4297680" y="1280160"/>
            <a:ext cx="82296" cy="23774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Natural Language Processing"/>
          <p:cNvSpPr txBox="1"/>
          <p:nvPr/>
        </p:nvSpPr>
        <p:spPr>
          <a:xfrm>
            <a:off x="4498848" y="1353312"/>
            <a:ext cx="323697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Natural Language Processing</a:t>
            </a:r>
            <a:endParaRPr lang="en-US" sz="16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50" dirty="0">
                <a:solidFill>
                  <a:schemeClr val="bg2"/>
                </a:solidFill>
              </a:rPr>
              <a:t>Tokenization &amp; Embeddings · NER / Classification · Translation · Summarization</a:t>
            </a:r>
            <a:endParaRPr lang="en-US" sz="16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150" dirty="0">
                <a:solidFill>
                  <a:schemeClr val="accent2"/>
                </a:solidFill>
              </a:rPr>
              <a:t>Tools: spaCy, NLTK, Hugging Face, Gensim</a:t>
            </a:r>
            <a:endParaRPr lang="en-US" sz="16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150" dirty="0">
                <a:solidFill>
                  <a:schemeClr val="bg2"/>
                </a:solidFill>
              </a:rPr>
              <a:t>Certs: CS224N, HF NLP Course</a:t>
            </a:r>
            <a:endParaRPr lang="en-US" sz="1600" dirty="0"/>
          </a:p>
        </p:txBody>
      </p:sp>
      <p:sp>
        <p:nvSpPr>
          <p:cNvPr id="9" name="Card LLMs &amp; Generative AI"/>
          <p:cNvSpPr/>
          <p:nvPr/>
        </p:nvSpPr>
        <p:spPr>
          <a:xfrm>
            <a:off x="8046720" y="1280160"/>
            <a:ext cx="3566160" cy="237744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Accent LLMs &amp; Generative AI"/>
          <p:cNvSpPr/>
          <p:nvPr/>
        </p:nvSpPr>
        <p:spPr>
          <a:xfrm>
            <a:off x="8046720" y="1280160"/>
            <a:ext cx="82296" cy="23774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LLMs &amp; Generative AI"/>
          <p:cNvSpPr txBox="1"/>
          <p:nvPr/>
        </p:nvSpPr>
        <p:spPr>
          <a:xfrm>
            <a:off x="8247888" y="1353312"/>
            <a:ext cx="323697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LLMs &amp; Generative AI</a:t>
            </a:r>
            <a:endParaRPr lang="en-US" sz="16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50" dirty="0">
                <a:solidFill>
                  <a:schemeClr val="bg2"/>
                </a:solidFill>
              </a:rPr>
              <a:t>Prompt Engineering · RAG · Fine-Tuning (LoRA) · AI Agents</a:t>
            </a:r>
            <a:endParaRPr lang="en-US" sz="16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150" dirty="0">
                <a:solidFill>
                  <a:schemeClr val="accent2"/>
                </a:solidFill>
              </a:rPr>
              <a:t>Tools: OpenAI API, Claude API, LangChain, LlamaIndex</a:t>
            </a:r>
            <a:endParaRPr lang="en-US" sz="16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150" dirty="0">
                <a:solidFill>
                  <a:schemeClr val="bg2"/>
                </a:solidFill>
              </a:rPr>
              <a:t>Certs: DeepLearning.AI GenAI, HF LLM Course</a:t>
            </a:r>
            <a:endParaRPr lang="en-US" sz="1600" dirty="0"/>
          </a:p>
        </p:txBody>
      </p:sp>
      <p:sp>
        <p:nvSpPr>
          <p:cNvPr id="12" name="Card Speech &amp; Audio AI"/>
          <p:cNvSpPr/>
          <p:nvPr/>
        </p:nvSpPr>
        <p:spPr>
          <a:xfrm>
            <a:off x="548640" y="3840480"/>
            <a:ext cx="3566160" cy="237744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Accent Speech &amp; Audio AI"/>
          <p:cNvSpPr/>
          <p:nvPr/>
        </p:nvSpPr>
        <p:spPr>
          <a:xfrm>
            <a:off x="548640" y="3840480"/>
            <a:ext cx="82296" cy="23774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Speech &amp; Audio AI"/>
          <p:cNvSpPr txBox="1"/>
          <p:nvPr/>
        </p:nvSpPr>
        <p:spPr>
          <a:xfrm>
            <a:off x="749808" y="3913632"/>
            <a:ext cx="323697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Speech &amp; Audio AI</a:t>
            </a:r>
            <a:endParaRPr lang="en-US" sz="16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50" dirty="0">
                <a:solidFill>
                  <a:schemeClr val="bg2"/>
                </a:solidFill>
              </a:rPr>
              <a:t>Speech Recognition · Text-to-Speech · Audio Classification · Speaker ID</a:t>
            </a:r>
            <a:endParaRPr lang="en-US" sz="16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150" dirty="0">
                <a:solidFill>
                  <a:schemeClr val="accent2"/>
                </a:solidFill>
              </a:rPr>
              <a:t>Tools: Whisper, Wav2Vec, librosa, Coqui TTS</a:t>
            </a:r>
            <a:endParaRPr lang="en-US" sz="16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150" dirty="0">
                <a:solidFill>
                  <a:schemeClr val="bg2"/>
                </a:solidFill>
              </a:rPr>
              <a:t>Certs: HF Audio Course</a:t>
            </a:r>
            <a:endParaRPr lang="en-US" sz="1600" dirty="0"/>
          </a:p>
        </p:txBody>
      </p:sp>
      <p:sp>
        <p:nvSpPr>
          <p:cNvPr id="15" name="Card Recommender Systems"/>
          <p:cNvSpPr/>
          <p:nvPr/>
        </p:nvSpPr>
        <p:spPr>
          <a:xfrm>
            <a:off x="4297680" y="3840480"/>
            <a:ext cx="3566160" cy="237744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Accent Recommender Systems"/>
          <p:cNvSpPr/>
          <p:nvPr/>
        </p:nvSpPr>
        <p:spPr>
          <a:xfrm>
            <a:off x="4297680" y="3840480"/>
            <a:ext cx="82296" cy="23774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Recommender Systems"/>
          <p:cNvSpPr txBox="1"/>
          <p:nvPr/>
        </p:nvSpPr>
        <p:spPr>
          <a:xfrm>
            <a:off x="4498848" y="3913632"/>
            <a:ext cx="323697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Recommender Systems</a:t>
            </a:r>
            <a:endParaRPr lang="en-US" sz="16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50" dirty="0">
                <a:solidFill>
                  <a:schemeClr val="bg2"/>
                </a:solidFill>
              </a:rPr>
              <a:t>Collaborative Filtering · Content-based · Ranking Models · Two-tower / Embeddings</a:t>
            </a:r>
            <a:endParaRPr lang="en-US" sz="16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150" dirty="0">
                <a:solidFill>
                  <a:schemeClr val="accent2"/>
                </a:solidFill>
              </a:rPr>
              <a:t>Tools: Surprise, LightFM, TF Recommenders, implicit</a:t>
            </a:r>
            <a:endParaRPr lang="en-US" sz="16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150" dirty="0">
                <a:solidFill>
                  <a:schemeClr val="bg2"/>
                </a:solidFill>
              </a:rPr>
              <a:t>Certs: Recsys Specialization (UMN)</a:t>
            </a:r>
            <a:endParaRPr lang="en-US" sz="1600" dirty="0"/>
          </a:p>
        </p:txBody>
      </p:sp>
      <p:sp>
        <p:nvSpPr>
          <p:cNvPr id="18" name="Card Robotics &amp; Embodied AI"/>
          <p:cNvSpPr/>
          <p:nvPr/>
        </p:nvSpPr>
        <p:spPr>
          <a:xfrm>
            <a:off x="8046720" y="3840480"/>
            <a:ext cx="3566160" cy="237744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Accent Robotics &amp; Embodied AI"/>
          <p:cNvSpPr/>
          <p:nvPr/>
        </p:nvSpPr>
        <p:spPr>
          <a:xfrm>
            <a:off x="8046720" y="3840480"/>
            <a:ext cx="82296" cy="23774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Robotics &amp; Embodied AI"/>
          <p:cNvSpPr txBox="1"/>
          <p:nvPr/>
        </p:nvSpPr>
        <p:spPr>
          <a:xfrm>
            <a:off x="8247888" y="3913632"/>
            <a:ext cx="323697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Robotics &amp; Embodied AI</a:t>
            </a:r>
            <a:endParaRPr lang="en-US" sz="16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50" dirty="0">
                <a:solidFill>
                  <a:schemeClr val="bg2"/>
                </a:solidFill>
              </a:rPr>
              <a:t>Perception &amp; SLAM · Planning &amp; Control · Sim-to-Real · Vision-Language-Action</a:t>
            </a:r>
            <a:endParaRPr lang="en-US" sz="16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150" dirty="0">
                <a:solidFill>
                  <a:schemeClr val="accent2"/>
                </a:solidFill>
              </a:rPr>
              <a:t>Tools: ROS 2, Isaac Sim, PyBullet, MuJoCo</a:t>
            </a:r>
            <a:endParaRPr lang="en-US" sz="16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150" dirty="0">
                <a:solidFill>
                  <a:schemeClr val="bg2"/>
                </a:solidFill>
              </a:rPr>
              <a:t>Certs: Modern Robotics (Coursera)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78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MLOps, Engineering &amp; Responsible AI</a:t>
            </a:r>
            <a:endParaRPr lang="en-US" sz="3000" dirty="0"/>
          </a:p>
        </p:txBody>
      </p:sp>
      <p:sp>
        <p:nvSpPr>
          <p:cNvPr id="3" name="Card MLOps"/>
          <p:cNvSpPr/>
          <p:nvPr/>
        </p:nvSpPr>
        <p:spPr>
          <a:xfrm>
            <a:off x="548640" y="1280160"/>
            <a:ext cx="2628900" cy="237744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Accent MLOps"/>
          <p:cNvSpPr/>
          <p:nvPr/>
        </p:nvSpPr>
        <p:spPr>
          <a:xfrm>
            <a:off x="548640" y="1280160"/>
            <a:ext cx="82296" cy="237744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Text MLOps"/>
          <p:cNvSpPr txBox="1"/>
          <p:nvPr/>
        </p:nvSpPr>
        <p:spPr>
          <a:xfrm>
            <a:off x="749808" y="1353312"/>
            <a:ext cx="229971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5"/>
                </a:solidFill>
              </a:rPr>
              <a:t>MLOPS &amp; ENGINEERING</a:t>
            </a:r>
            <a:endParaRPr lang="en-US" sz="9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MLOps</a:t>
            </a:r>
            <a:endParaRPr lang="en-US" sz="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150" dirty="0">
                <a:solidFill>
                  <a:schemeClr val="bg2"/>
                </a:solidFill>
              </a:rPr>
              <a:t>Experiment Tracking · CI/CD for ML · Model Registry · Data Versioning</a:t>
            </a:r>
            <a:endParaRPr lang="en-US" sz="9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050" dirty="0">
                <a:solidFill>
                  <a:schemeClr val="accent5"/>
                </a:solidFill>
              </a:rPr>
              <a:t>Tools: MLflow, DVC, Weights &amp; Biases, Kubeflow</a:t>
            </a:r>
            <a:endParaRPr lang="en-US" sz="9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050" dirty="0">
                <a:solidFill>
                  <a:schemeClr val="bg2"/>
                </a:solidFill>
              </a:rPr>
              <a:t>Certs: MLOps Zoomcamp, Google Prof. ML Engineer</a:t>
            </a:r>
            <a:endParaRPr lang="en-US" sz="900" dirty="0"/>
          </a:p>
        </p:txBody>
      </p:sp>
      <p:sp>
        <p:nvSpPr>
          <p:cNvPr id="6" name="Card Model Serving &amp; Edge AI"/>
          <p:cNvSpPr/>
          <p:nvPr/>
        </p:nvSpPr>
        <p:spPr>
          <a:xfrm>
            <a:off x="3360420" y="1280160"/>
            <a:ext cx="2628900" cy="237744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Accent Model Serving &amp; Edge AI"/>
          <p:cNvSpPr/>
          <p:nvPr/>
        </p:nvSpPr>
        <p:spPr>
          <a:xfrm>
            <a:off x="3360420" y="1280160"/>
            <a:ext cx="82296" cy="237744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Text Model Serving &amp; Edge AI"/>
          <p:cNvSpPr txBox="1"/>
          <p:nvPr/>
        </p:nvSpPr>
        <p:spPr>
          <a:xfrm>
            <a:off x="3561588" y="1353312"/>
            <a:ext cx="229971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5"/>
                </a:solidFill>
              </a:rPr>
              <a:t>MLOPS &amp; ENGINEERING</a:t>
            </a:r>
            <a:endParaRPr lang="en-US" sz="9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Model Serving &amp; Edge AI</a:t>
            </a:r>
            <a:endParaRPr lang="en-US" sz="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150" dirty="0">
                <a:solidFill>
                  <a:schemeClr val="bg2"/>
                </a:solidFill>
              </a:rPr>
              <a:t>REST / gRPC APIs · Docker &amp; Kubernetes · ONNX / TensorRT · Mobile &amp; Edge</a:t>
            </a:r>
            <a:endParaRPr lang="en-US" sz="9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050" dirty="0">
                <a:solidFill>
                  <a:schemeClr val="accent5"/>
                </a:solidFill>
              </a:rPr>
              <a:t>Tools: FastAPI, Docker, ONNX, TFLite</a:t>
            </a:r>
            <a:endParaRPr lang="en-US" sz="9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050" dirty="0">
                <a:solidFill>
                  <a:schemeClr val="bg2"/>
                </a:solidFill>
              </a:rPr>
              <a:t>Certs: AWS ML Specialty</a:t>
            </a:r>
            <a:endParaRPr lang="en-US" sz="900" dirty="0"/>
          </a:p>
        </p:txBody>
      </p:sp>
      <p:sp>
        <p:nvSpPr>
          <p:cNvPr id="9" name="Card Cloud &amp; Distributed Training"/>
          <p:cNvSpPr/>
          <p:nvPr/>
        </p:nvSpPr>
        <p:spPr>
          <a:xfrm>
            <a:off x="6172200" y="1280160"/>
            <a:ext cx="2628900" cy="237744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Accent Cloud &amp; Distributed Training"/>
          <p:cNvSpPr/>
          <p:nvPr/>
        </p:nvSpPr>
        <p:spPr>
          <a:xfrm>
            <a:off x="6172200" y="1280160"/>
            <a:ext cx="82296" cy="237744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Cloud &amp; Distributed Training"/>
          <p:cNvSpPr txBox="1"/>
          <p:nvPr/>
        </p:nvSpPr>
        <p:spPr>
          <a:xfrm>
            <a:off x="6373368" y="1353312"/>
            <a:ext cx="229971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5"/>
                </a:solidFill>
              </a:rPr>
              <a:t>MLOPS &amp; ENGINEERING</a:t>
            </a:r>
            <a:endParaRPr lang="en-US" sz="9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Cloud &amp; Distributed Training</a:t>
            </a:r>
            <a:endParaRPr lang="en-US" sz="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150" dirty="0">
                <a:solidFill>
                  <a:schemeClr val="bg2"/>
                </a:solidFill>
              </a:rPr>
              <a:t>GPUs / TPUs · Distributed Training · Cloud ML Platforms · Cost Control</a:t>
            </a:r>
            <a:endParaRPr lang="en-US" sz="9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050" dirty="0">
                <a:solidFill>
                  <a:schemeClr val="accent5"/>
                </a:solidFill>
              </a:rPr>
              <a:t>Tools: SageMaker, Vertex AI, Azure ML, Ray</a:t>
            </a:r>
            <a:endParaRPr lang="en-US" sz="9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050" dirty="0">
                <a:solidFill>
                  <a:schemeClr val="bg2"/>
                </a:solidFill>
              </a:rPr>
              <a:t>Certs: Azure DP-100, AWS ML Specialty</a:t>
            </a:r>
            <a:endParaRPr lang="en-US" sz="900" dirty="0"/>
          </a:p>
        </p:txBody>
      </p:sp>
      <p:sp>
        <p:nvSpPr>
          <p:cNvPr id="12" name="Card LLMOps &amp; Vector Search"/>
          <p:cNvSpPr/>
          <p:nvPr/>
        </p:nvSpPr>
        <p:spPr>
          <a:xfrm>
            <a:off x="8983980" y="1280160"/>
            <a:ext cx="2628900" cy="237744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Accent LLMOps &amp; Vector Search"/>
          <p:cNvSpPr/>
          <p:nvPr/>
        </p:nvSpPr>
        <p:spPr>
          <a:xfrm>
            <a:off x="8983980" y="1280160"/>
            <a:ext cx="82296" cy="237744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LLMOps &amp; Vector Search"/>
          <p:cNvSpPr txBox="1"/>
          <p:nvPr/>
        </p:nvSpPr>
        <p:spPr>
          <a:xfrm>
            <a:off x="9185148" y="1353312"/>
            <a:ext cx="229971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5"/>
                </a:solidFill>
              </a:rPr>
              <a:t>MLOPS &amp; ENGINEERING</a:t>
            </a:r>
            <a:endParaRPr lang="en-US" sz="9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LLMOps &amp; Vector Search</a:t>
            </a:r>
            <a:endParaRPr lang="en-US" sz="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150" dirty="0">
                <a:solidFill>
                  <a:schemeClr val="bg2"/>
                </a:solidFill>
              </a:rPr>
              <a:t>Vector Databases · Evals &amp; Guardrails · Observability · Caching &amp; Cost</a:t>
            </a:r>
            <a:endParaRPr lang="en-US" sz="9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050" dirty="0">
                <a:solidFill>
                  <a:schemeClr val="accent5"/>
                </a:solidFill>
              </a:rPr>
              <a:t>Tools: Pinecone, Chroma, Weaviate, LangSmith</a:t>
            </a:r>
            <a:endParaRPr lang="en-US" sz="9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050" dirty="0">
                <a:solidFill>
                  <a:schemeClr val="bg2"/>
                </a:solidFill>
              </a:rPr>
              <a:t>Certs: DeepLearning.AI LLMOps</a:t>
            </a:r>
            <a:endParaRPr lang="en-US" sz="900" dirty="0"/>
          </a:p>
        </p:txBody>
      </p:sp>
      <p:sp>
        <p:nvSpPr>
          <p:cNvPr id="15" name="Card AI Ethics, Fairness &amp; Governance"/>
          <p:cNvSpPr/>
          <p:nvPr/>
        </p:nvSpPr>
        <p:spPr>
          <a:xfrm>
            <a:off x="548640" y="3840480"/>
            <a:ext cx="3566160" cy="237744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6" name="Accent AI Ethics, Fairness &amp; Governance"/>
          <p:cNvSpPr/>
          <p:nvPr/>
        </p:nvSpPr>
        <p:spPr>
          <a:xfrm>
            <a:off x="548640" y="3840480"/>
            <a:ext cx="82296" cy="237744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7" name="Text AI Ethics, Fairness &amp; Governance"/>
          <p:cNvSpPr txBox="1"/>
          <p:nvPr/>
        </p:nvSpPr>
        <p:spPr>
          <a:xfrm>
            <a:off x="749808" y="3913632"/>
            <a:ext cx="323697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6"/>
                </a:solidFill>
              </a:rPr>
              <a:t>RESPONSIBLE AI &amp; RESEARCH</a:t>
            </a:r>
            <a:endParaRPr lang="en-US" sz="9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AI Ethics, Fairness &amp; Governance</a:t>
            </a:r>
            <a:endParaRPr lang="en-US" sz="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150" dirty="0">
                <a:solidFill>
                  <a:schemeClr val="bg2"/>
                </a:solidFill>
              </a:rPr>
              <a:t>Bias &amp; Fairness · Privacy (GDPR, DP) · AI Regulation · Model Cards</a:t>
            </a:r>
            <a:endParaRPr lang="en-US" sz="9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050" dirty="0">
                <a:solidFill>
                  <a:schemeClr val="accent6"/>
                </a:solidFill>
              </a:rPr>
              <a:t>Tools: Fairlearn, AIF360, Opacus, Model Cards Toolkit</a:t>
            </a:r>
            <a:endParaRPr lang="en-US" sz="9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050" dirty="0">
                <a:solidFill>
                  <a:schemeClr val="bg2"/>
                </a:solidFill>
              </a:rPr>
              <a:t>Certs: Elements of AI, AI Ethics (Coursera)</a:t>
            </a:r>
            <a:endParaRPr lang="en-US" sz="900" dirty="0"/>
          </a:p>
        </p:txBody>
      </p:sp>
      <p:sp>
        <p:nvSpPr>
          <p:cNvPr id="18" name="Card Explainability &amp; AI Safety"/>
          <p:cNvSpPr/>
          <p:nvPr/>
        </p:nvSpPr>
        <p:spPr>
          <a:xfrm>
            <a:off x="4297680" y="3840480"/>
            <a:ext cx="3566160" cy="237744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9" name="Accent Explainability &amp; AI Safety"/>
          <p:cNvSpPr/>
          <p:nvPr/>
        </p:nvSpPr>
        <p:spPr>
          <a:xfrm>
            <a:off x="4297680" y="3840480"/>
            <a:ext cx="82296" cy="237744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Text Explainability &amp; AI Safety"/>
          <p:cNvSpPr txBox="1"/>
          <p:nvPr/>
        </p:nvSpPr>
        <p:spPr>
          <a:xfrm>
            <a:off x="4498848" y="3913632"/>
            <a:ext cx="323697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6"/>
                </a:solidFill>
              </a:rPr>
              <a:t>RESPONSIBLE AI &amp; RESEARCH</a:t>
            </a:r>
            <a:endParaRPr lang="en-US" sz="9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Explainability &amp; AI Safety</a:t>
            </a:r>
            <a:endParaRPr lang="en-US" sz="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150" dirty="0">
                <a:solidFill>
                  <a:schemeClr val="bg2"/>
                </a:solidFill>
              </a:rPr>
              <a:t>SHAP / LIME · Interpretability · Adversarial ML · Red-teaming LLMs</a:t>
            </a:r>
            <a:endParaRPr lang="en-US" sz="9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050" dirty="0">
                <a:solidFill>
                  <a:schemeClr val="accent6"/>
                </a:solidFill>
              </a:rPr>
              <a:t>Tools: SHAP, LIME, Captum, ART</a:t>
            </a:r>
            <a:endParaRPr lang="en-US" sz="9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050" dirty="0">
                <a:solidFill>
                  <a:schemeClr val="bg2"/>
                </a:solidFill>
              </a:rPr>
              <a:t>Certs: AI Safety Fundamentals</a:t>
            </a:r>
            <a:endParaRPr lang="en-US" sz="900" dirty="0"/>
          </a:p>
        </p:txBody>
      </p:sp>
      <p:sp>
        <p:nvSpPr>
          <p:cNvPr id="21" name="Card Research &amp; Papers"/>
          <p:cNvSpPr/>
          <p:nvPr/>
        </p:nvSpPr>
        <p:spPr>
          <a:xfrm>
            <a:off x="8046720" y="3840480"/>
            <a:ext cx="3566160" cy="237744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2" name="Accent Research &amp; Papers"/>
          <p:cNvSpPr/>
          <p:nvPr/>
        </p:nvSpPr>
        <p:spPr>
          <a:xfrm>
            <a:off x="8046720" y="3840480"/>
            <a:ext cx="82296" cy="237744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3" name="Text Research &amp; Papers"/>
          <p:cNvSpPr txBox="1"/>
          <p:nvPr/>
        </p:nvSpPr>
        <p:spPr>
          <a:xfrm>
            <a:off x="8247888" y="3913632"/>
            <a:ext cx="323697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6"/>
                </a:solidFill>
              </a:rPr>
              <a:t>RESPONSIBLE AI &amp; RESEARCH</a:t>
            </a:r>
            <a:endParaRPr lang="en-US" sz="9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Research &amp; Papers</a:t>
            </a:r>
            <a:endParaRPr lang="en-US" sz="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150" dirty="0">
                <a:solidFill>
                  <a:schemeClr val="bg2"/>
                </a:solidFill>
              </a:rPr>
              <a:t>Reading Papers · Reproducing Results · Benchmarks · Publishing</a:t>
            </a:r>
            <a:endParaRPr lang="en-US" sz="9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050" dirty="0">
                <a:solidFill>
                  <a:schemeClr val="accent6"/>
                </a:solidFill>
              </a:rPr>
              <a:t>Tools: arXiv, Papers with Code, Zotero, Overleaf</a:t>
            </a:r>
            <a:endParaRPr lang="en-US" sz="9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050" dirty="0">
                <a:solidFill>
                  <a:schemeClr val="bg2"/>
                </a:solidFill>
              </a:rPr>
              <a:t>Certs: Research Methods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78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How Every Field Connects</a:t>
            </a:r>
            <a:endParaRPr lang="en-US" sz="3000" dirty="0"/>
          </a:p>
        </p:txBody>
      </p:sp>
      <p:pic>
        <p:nvPicPr>
          <p:cNvPr id="3" name="Link map picture" descr="/mnt/user-data/outputs/aiml_link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6766560" cy="5601208"/>
          </a:xfrm>
          <a:prstGeom prst="rect">
            <a:avLst/>
          </a:prstGeom>
        </p:spPr>
      </p:pic>
      <p:sp>
        <p:nvSpPr>
          <p:cNvPr id="4" name="Key link 1"/>
          <p:cNvSpPr/>
          <p:nvPr/>
        </p:nvSpPr>
        <p:spPr>
          <a:xfrm>
            <a:off x="7589520" y="1188720"/>
            <a:ext cx="4069080" cy="731520"/>
          </a:xfrm>
          <a:prstGeom prst="rect">
            <a:avLst/>
          </a:prstGeom>
          <a:solidFill>
            <a:schemeClr val="tx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0" y="1225296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Math -&gt; Supervised &amp; Deep Learning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statistics &amp; calculus power every model</a:t>
            </a:r>
            <a:endParaRPr lang="en-US" sz="1300" dirty="0"/>
          </a:p>
        </p:txBody>
      </p:sp>
      <p:sp>
        <p:nvSpPr>
          <p:cNvPr id="6" name="Key link 2"/>
          <p:cNvSpPr/>
          <p:nvPr/>
        </p:nvSpPr>
        <p:spPr>
          <a:xfrm>
            <a:off x="7589520" y="2039112"/>
            <a:ext cx="4069080" cy="731520"/>
          </a:xfrm>
          <a:prstGeom prst="rect">
            <a:avLst/>
          </a:prstGeom>
          <a:solidFill>
            <a:schemeClr val="tx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0" y="2075688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Data -&gt; EDA -&gt; Features -&gt; Models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better data, better results</a:t>
            </a:r>
            <a:endParaRPr lang="en-US" sz="1300" dirty="0"/>
          </a:p>
        </p:txBody>
      </p:sp>
      <p:sp>
        <p:nvSpPr>
          <p:cNvPr id="8" name="Key link 3"/>
          <p:cNvSpPr/>
          <p:nvPr/>
        </p:nvSpPr>
        <p:spPr>
          <a:xfrm>
            <a:off x="7589520" y="2889504"/>
            <a:ext cx="4069080" cy="731520"/>
          </a:xfrm>
          <a:prstGeom prst="rect">
            <a:avLst/>
          </a:prstGeom>
          <a:solidFill>
            <a:schemeClr val="tx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0" y="292608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Sequence -&gt; Transformer -&gt; LLM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attention changed everything</a:t>
            </a:r>
            <a:endParaRPr lang="en-US" sz="1300" dirty="0"/>
          </a:p>
        </p:txBody>
      </p:sp>
      <p:sp>
        <p:nvSpPr>
          <p:cNvPr id="10" name="Key link 4"/>
          <p:cNvSpPr/>
          <p:nvPr/>
        </p:nvSpPr>
        <p:spPr>
          <a:xfrm>
            <a:off x="7589520" y="3739896"/>
            <a:ext cx="4069080" cy="731520"/>
          </a:xfrm>
          <a:prstGeom prst="rect">
            <a:avLst/>
          </a:prstGeom>
          <a:solidFill>
            <a:schemeClr val="tx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0" y="3776472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Transformers -&gt; Vision &amp; NLP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one architecture, many domains</a:t>
            </a:r>
            <a:endParaRPr lang="en-US" sz="1300" dirty="0"/>
          </a:p>
        </p:txBody>
      </p:sp>
      <p:sp>
        <p:nvSpPr>
          <p:cNvPr id="12" name="Key link 5"/>
          <p:cNvSpPr/>
          <p:nvPr/>
        </p:nvSpPr>
        <p:spPr>
          <a:xfrm>
            <a:off x="7589520" y="4590288"/>
            <a:ext cx="4069080" cy="731520"/>
          </a:xfrm>
          <a:prstGeom prst="rect">
            <a:avLst/>
          </a:prstGeom>
          <a:solidFill>
            <a:schemeClr val="tx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72400" y="4626864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MLOps -&gt; Serving -&gt; Edge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models that reach users</a:t>
            </a:r>
            <a:endParaRPr lang="en-US" sz="1300" dirty="0"/>
          </a:p>
        </p:txBody>
      </p:sp>
      <p:sp>
        <p:nvSpPr>
          <p:cNvPr id="14" name="Key link 6"/>
          <p:cNvSpPr/>
          <p:nvPr/>
        </p:nvSpPr>
        <p:spPr>
          <a:xfrm>
            <a:off x="7589520" y="5440680"/>
            <a:ext cx="4069080" cy="731520"/>
          </a:xfrm>
          <a:prstGeom prst="rect">
            <a:avLst/>
          </a:prstGeom>
          <a:solidFill>
            <a:schemeClr val="tx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72400" y="5477256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Ethics &amp; XAI -&gt; LLMs &amp; Models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trust, safety and explainability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78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The ML Lifecycle</a:t>
            </a:r>
            <a:endParaRPr lang="en-US" sz="3000" dirty="0"/>
          </a:p>
        </p:txBody>
      </p:sp>
      <p:graphicFrame>
        <p:nvGraphicFramePr>
          <p:cNvPr id="11" name="Lifecycl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749040"/>
                <a:gridCol w="4572000"/>
              </a:tblGrid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36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What happens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Tools &amp; good practice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785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1. Problem Framing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9D5FF"/>
                          </a:solidFill>
                        </a:rPr>
                        <a:t>Define goal, metric and constraints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5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A7F3D0"/>
                          </a:solidFill>
                        </a:rPr>
                        <a:t>Stakeholder interviews, baselines, success metrics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2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2. Data Collection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9D5FF"/>
                          </a:solidFill>
                        </a:rPr>
                        <a:t>Gather and label data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5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A7F3D0"/>
                          </a:solidFill>
                        </a:rPr>
                        <a:t>APIs, scraping, labeling tools, DVC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2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3. Data Prep &amp; EDA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9D5FF"/>
                          </a:solidFill>
                        </a:rPr>
                        <a:t>Clean, explore, split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5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A7F3D0"/>
                          </a:solidFill>
                        </a:rPr>
                        <a:t>Pandas, SQL, Great Expectations, leakage checks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2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4. Feature Engineering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9D5FF"/>
                          </a:solidFill>
                        </a:rPr>
                        <a:t>Create and select features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5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A7F3D0"/>
                          </a:solidFill>
                        </a:rPr>
                        <a:t>scikit-learn pipelines, feature stores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2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5. Model Training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9D5FF"/>
                          </a:solidFill>
                        </a:rPr>
                        <a:t>Train and tune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5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A7F3D0"/>
                          </a:solidFill>
                        </a:rPr>
                        <a:t>PyTorch, XGBoost, Optuna, Weights &amp; Biases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2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6. Evaluation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9D5FF"/>
                          </a:solidFill>
                        </a:rPr>
                        <a:t>Validate, compare, test fairness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5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A7F3D0"/>
                          </a:solidFill>
                        </a:rPr>
                        <a:t>Cross-validation, error analysis, SHAP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2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7. Deployment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9D5FF"/>
                          </a:solidFill>
                        </a:rPr>
                        <a:t>Ship as API, batch or edge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5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A7F3D0"/>
                          </a:solidFill>
                        </a:rPr>
                        <a:t>Docker, FastAPI, ONNX, Kubernetes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2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8. Monitoring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9D5FF"/>
                          </a:solidFill>
                        </a:rPr>
                        <a:t>Watch drift, quality and cost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5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A7F3D0"/>
                          </a:solidFill>
                        </a:rPr>
                        <a:t>Evidently, Prometheus, retraining triggers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2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78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Lifecycle Pipeline</a:t>
            </a:r>
            <a:endParaRPr lang="en-US" sz="3000" dirty="0"/>
          </a:p>
        </p:txBody>
      </p:sp>
      <p:pic>
        <p:nvPicPr>
          <p:cNvPr id="3" name="Lifecycle picture" descr="/mnt/user-data/outputs/aiml_lifecy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11064240" cy="467156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78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Folder Structure for Your Study Repo</a:t>
            </a:r>
            <a:endParaRPr lang="en-US" sz="3000" dirty="0"/>
          </a:p>
        </p:txBody>
      </p:sp>
      <p:sp>
        <p:nvSpPr>
          <p:cNvPr id="3" name="Code panel 1"/>
          <p:cNvSpPr/>
          <p:nvPr/>
        </p:nvSpPr>
        <p:spPr>
          <a:xfrm>
            <a:off x="548640" y="1188720"/>
            <a:ext cx="5440680" cy="5074920"/>
          </a:xfrm>
          <a:prstGeom prst="rect">
            <a:avLst/>
          </a:prstGeom>
          <a:solidFill>
            <a:schemeClr val="tx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280160"/>
            <a:ext cx="5029200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Cybersecurity/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00_Foundations/  [Math, Code &amp; Data]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Mathematics/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Python_Dev_Tools/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Data_Engineering/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Data_Analysis_Viz/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01_Classical_ML/  [Core Learning]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Supervised_Learning/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Unsupervised_Learning/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Feature_Eng_Evaluation/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Time_Series_Probabilistic/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Reinforcement_Learning/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02_Deep_Learning/  [Neural Networks]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Neural_Net_Fundamentals/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CNNs/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Sequence_Models/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Transformers_Attention/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Generative_Models/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Graph_SelfSupervised/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03_Applied_AI/  [Real-World Use]</a:t>
            </a:r>
            <a:endParaRPr lang="en-US" sz="1300" dirty="0"/>
          </a:p>
        </p:txBody>
      </p:sp>
      <p:sp>
        <p:nvSpPr>
          <p:cNvPr id="5" name="Code panel 2"/>
          <p:cNvSpPr/>
          <p:nvPr/>
        </p:nvSpPr>
        <p:spPr>
          <a:xfrm>
            <a:off x="6172200" y="1188720"/>
            <a:ext cx="5440680" cy="5074920"/>
          </a:xfrm>
          <a:prstGeom prst="rect">
            <a:avLst/>
          </a:prstGeom>
          <a:solidFill>
            <a:schemeClr val="tx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0" y="1280160"/>
            <a:ext cx="5029200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Computer_Vision/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NLP/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LLMs_GenAI/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Speech_Audio/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Recommender_Systems/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Robotics_Embodied/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04_MLOps_Engineering/  [Production]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MLOps/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Serving_Edge/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Cloud_Distributed/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LLMOps_Vector_Search/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05_Responsible_AI_Research/  [Trust &amp; Science]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Ethics_Fairness_Governance/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Explainability_Safety/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Research_Papers/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06_Projects/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07_Kaggle_Competitions/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08_Papers_Notes/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09_Resources/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78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Learning &amp; Certification Roadmap</a:t>
            </a:r>
            <a:endParaRPr lang="en-US" sz="3000" dirty="0"/>
          </a:p>
        </p:txBody>
      </p:sp>
      <p:sp>
        <p:nvSpPr>
          <p:cNvPr id="3" name="Track Beginner"/>
          <p:cNvSpPr/>
          <p:nvPr/>
        </p:nvSpPr>
        <p:spPr>
          <a:xfrm>
            <a:off x="548640" y="1280160"/>
            <a:ext cx="2651760" cy="201168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rack bar Beginner"/>
          <p:cNvSpPr/>
          <p:nvPr/>
        </p:nvSpPr>
        <p:spPr>
          <a:xfrm>
            <a:off x="548640" y="1280160"/>
            <a:ext cx="2651760" cy="914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2286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Beginner</a:t>
            </a:r>
            <a:endParaRPr lang="en-US" sz="18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300" dirty="0">
                <a:solidFill>
                  <a:schemeClr val="bg1"/>
                </a:solidFill>
              </a:rPr>
              <a:t>Andrew Ng ML Specialization, Kaggle Learn, fast.ai, CS50 AI</a:t>
            </a:r>
            <a:endParaRPr lang="en-US" sz="1800" dirty="0"/>
          </a:p>
        </p:txBody>
      </p:sp>
      <p:sp>
        <p:nvSpPr>
          <p:cNvPr id="6" name="Track Data Scientist"/>
          <p:cNvSpPr/>
          <p:nvPr/>
        </p:nvSpPr>
        <p:spPr>
          <a:xfrm>
            <a:off x="3355848" y="1280160"/>
            <a:ext cx="2651760" cy="201168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Track bar Data Scientist"/>
          <p:cNvSpPr/>
          <p:nvPr/>
        </p:nvSpPr>
        <p:spPr>
          <a:xfrm>
            <a:off x="3355848" y="1280160"/>
            <a:ext cx="2651760" cy="914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38728" y="1508760"/>
            <a:ext cx="2286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Data Scientist</a:t>
            </a:r>
            <a:endParaRPr lang="en-US" sz="18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300" dirty="0">
                <a:solidFill>
                  <a:schemeClr val="bg1"/>
                </a:solidFill>
              </a:rPr>
              <a:t>IBM Data Science, Google Data Analytics, Kaggle Comps, Azure DP-100</a:t>
            </a:r>
            <a:endParaRPr lang="en-US" sz="1800" dirty="0"/>
          </a:p>
        </p:txBody>
      </p:sp>
      <p:sp>
        <p:nvSpPr>
          <p:cNvPr id="9" name="Track ML Engineer"/>
          <p:cNvSpPr/>
          <p:nvPr/>
        </p:nvSpPr>
        <p:spPr>
          <a:xfrm>
            <a:off x="6163056" y="1280160"/>
            <a:ext cx="2651760" cy="201168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Track bar ML Engineer"/>
          <p:cNvSpPr/>
          <p:nvPr/>
        </p:nvSpPr>
        <p:spPr>
          <a:xfrm>
            <a:off x="6163056" y="1280160"/>
            <a:ext cx="2651760" cy="9144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45936" y="1508760"/>
            <a:ext cx="2286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ML Engineer</a:t>
            </a:r>
            <a:endParaRPr lang="en-US" sz="18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300" dirty="0">
                <a:solidFill>
                  <a:schemeClr val="bg1"/>
                </a:solidFill>
              </a:rPr>
              <a:t>AWS ML Specialty, Google Prof. ML Engineer, MLOps Zoomcamp</a:t>
            </a:r>
            <a:endParaRPr lang="en-US" sz="1800" dirty="0"/>
          </a:p>
        </p:txBody>
      </p:sp>
      <p:sp>
        <p:nvSpPr>
          <p:cNvPr id="12" name="Track Research / GenAI"/>
          <p:cNvSpPr/>
          <p:nvPr/>
        </p:nvSpPr>
        <p:spPr>
          <a:xfrm>
            <a:off x="8970264" y="1280160"/>
            <a:ext cx="2651760" cy="201168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rack bar Research / GenAI"/>
          <p:cNvSpPr/>
          <p:nvPr/>
        </p:nvSpPr>
        <p:spPr>
          <a:xfrm>
            <a:off x="8970264" y="1280160"/>
            <a:ext cx="2651760" cy="9144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53144" y="1508760"/>
            <a:ext cx="2286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Research / GenAI</a:t>
            </a:r>
            <a:endParaRPr lang="en-US" sz="18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300" dirty="0">
                <a:solidFill>
                  <a:schemeClr val="bg1"/>
                </a:solidFill>
              </a:rPr>
              <a:t>Deep Learning Spec., Hugging Face Course, CS224N, CS231n</a:t>
            </a:r>
            <a:endParaRPr lang="en-US" sz="1800" dirty="0"/>
          </a:p>
        </p:txBody>
      </p:sp>
      <p:sp>
        <p:nvSpPr>
          <p:cNvPr id="15" name="Step Foundations"/>
          <p:cNvSpPr/>
          <p:nvPr/>
        </p:nvSpPr>
        <p:spPr>
          <a:xfrm>
            <a:off x="548640" y="3840480"/>
            <a:ext cx="2103120" cy="2011680"/>
          </a:xfrm>
          <a:prstGeom prst="roundRect">
            <a:avLst>
              <a:gd name="adj" fmla="val 4545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Step num 1"/>
          <p:cNvSpPr/>
          <p:nvPr/>
        </p:nvSpPr>
        <p:spPr>
          <a:xfrm>
            <a:off x="731520" y="40233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617720"/>
            <a:ext cx="1783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Foundations</a:t>
            </a:r>
            <a:endParaRPr lang="en-US" sz="16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chemeClr val="bg2"/>
                </a:solidFill>
              </a:rPr>
              <a:t>Math, Python, SQL, data</a:t>
            </a:r>
            <a:endParaRPr lang="en-US" sz="1600" dirty="0"/>
          </a:p>
        </p:txBody>
      </p:sp>
      <p:sp>
        <p:nvSpPr>
          <p:cNvPr id="19" name="Step Classical ML"/>
          <p:cNvSpPr/>
          <p:nvPr/>
        </p:nvSpPr>
        <p:spPr>
          <a:xfrm>
            <a:off x="2798064" y="3840480"/>
            <a:ext cx="2103120" cy="2011680"/>
          </a:xfrm>
          <a:prstGeom prst="roundRect">
            <a:avLst>
              <a:gd name="adj" fmla="val 4545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Step num 2"/>
          <p:cNvSpPr/>
          <p:nvPr/>
        </p:nvSpPr>
        <p:spPr>
          <a:xfrm>
            <a:off x="2980944" y="402336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980944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2980944" y="4617720"/>
            <a:ext cx="1783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Classical ML</a:t>
            </a:r>
            <a:endParaRPr lang="en-US" sz="16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chemeClr val="bg2"/>
                </a:solidFill>
              </a:rPr>
              <a:t>Models, features, metrics</a:t>
            </a:r>
            <a:endParaRPr lang="en-US" sz="1600" dirty="0"/>
          </a:p>
        </p:txBody>
      </p:sp>
      <p:sp>
        <p:nvSpPr>
          <p:cNvPr id="23" name="Step Deep Learning"/>
          <p:cNvSpPr/>
          <p:nvPr/>
        </p:nvSpPr>
        <p:spPr>
          <a:xfrm>
            <a:off x="5047488" y="3840480"/>
            <a:ext cx="2103120" cy="2011680"/>
          </a:xfrm>
          <a:prstGeom prst="roundRect">
            <a:avLst>
              <a:gd name="adj" fmla="val 4545"/>
            </a:avLst>
          </a:prstGeom>
          <a:solidFill>
            <a:schemeClr val="tx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4" name="Step num 3"/>
          <p:cNvSpPr/>
          <p:nvPr/>
        </p:nvSpPr>
        <p:spPr>
          <a:xfrm>
            <a:off x="5230368" y="402336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230368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230368" y="4617720"/>
            <a:ext cx="1783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Deep Learning</a:t>
            </a:r>
            <a:endParaRPr lang="en-US" sz="16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chemeClr val="bg2"/>
                </a:solidFill>
              </a:rPr>
              <a:t>PyTorch, CNNs, Transformers</a:t>
            </a:r>
            <a:endParaRPr lang="en-US" sz="1600" dirty="0"/>
          </a:p>
        </p:txBody>
      </p:sp>
      <p:sp>
        <p:nvSpPr>
          <p:cNvPr id="27" name="Step Specialize"/>
          <p:cNvSpPr/>
          <p:nvPr/>
        </p:nvSpPr>
        <p:spPr>
          <a:xfrm>
            <a:off x="7296912" y="3840480"/>
            <a:ext cx="2103120" cy="2011680"/>
          </a:xfrm>
          <a:prstGeom prst="roundRect">
            <a:avLst>
              <a:gd name="adj" fmla="val 4545"/>
            </a:avLst>
          </a:prstGeom>
          <a:solidFill>
            <a:schemeClr val="tx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8" name="Step num 4"/>
          <p:cNvSpPr/>
          <p:nvPr/>
        </p:nvSpPr>
        <p:spPr>
          <a:xfrm>
            <a:off x="7479792" y="40233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479792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7479792" y="4617720"/>
            <a:ext cx="1783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Specialize</a:t>
            </a:r>
            <a:endParaRPr lang="en-US" sz="16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chemeClr val="bg2"/>
                </a:solidFill>
              </a:rPr>
              <a:t>NLP, vision, LLMs, RL</a:t>
            </a:r>
            <a:endParaRPr lang="en-US" sz="1600" dirty="0"/>
          </a:p>
        </p:txBody>
      </p:sp>
      <p:sp>
        <p:nvSpPr>
          <p:cNvPr id="31" name="Step Ship &amp; Share"/>
          <p:cNvSpPr/>
          <p:nvPr/>
        </p:nvSpPr>
        <p:spPr>
          <a:xfrm>
            <a:off x="9546336" y="3840480"/>
            <a:ext cx="2103120" cy="2011680"/>
          </a:xfrm>
          <a:prstGeom prst="roundRect">
            <a:avLst>
              <a:gd name="adj" fmla="val 4545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2" name="Step num 5"/>
          <p:cNvSpPr/>
          <p:nvPr/>
        </p:nvSpPr>
        <p:spPr>
          <a:xfrm>
            <a:off x="9729216" y="4023360"/>
            <a:ext cx="502920" cy="5029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729216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5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9729216" y="4617720"/>
            <a:ext cx="1783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Ship &amp; Share</a:t>
            </a:r>
            <a:endParaRPr lang="en-US" sz="16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chemeClr val="bg2"/>
                </a:solidFill>
              </a:rPr>
              <a:t>MLOps, projects, papers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78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stripe Foundations"/>
          <p:cNvSpPr/>
          <p:nvPr/>
        </p:nvSpPr>
        <p:spPr>
          <a:xfrm>
            <a:off x="0" y="0"/>
            <a:ext cx="2031492" cy="16459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Bottom stripe Foundations"/>
          <p:cNvSpPr/>
          <p:nvPr/>
        </p:nvSpPr>
        <p:spPr>
          <a:xfrm>
            <a:off x="0" y="6693408"/>
            <a:ext cx="2031492" cy="16459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op stripe Classical ML"/>
          <p:cNvSpPr/>
          <p:nvPr/>
        </p:nvSpPr>
        <p:spPr>
          <a:xfrm>
            <a:off x="2031492" y="0"/>
            <a:ext cx="2031492" cy="164592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Bottom stripe Classical ML"/>
          <p:cNvSpPr/>
          <p:nvPr/>
        </p:nvSpPr>
        <p:spPr>
          <a:xfrm>
            <a:off x="2031492" y="6693408"/>
            <a:ext cx="2031492" cy="164592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op stripe Deep Learning"/>
          <p:cNvSpPr/>
          <p:nvPr/>
        </p:nvSpPr>
        <p:spPr>
          <a:xfrm>
            <a:off x="4062984" y="0"/>
            <a:ext cx="2031492" cy="164592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Bottom stripe Deep Learning"/>
          <p:cNvSpPr/>
          <p:nvPr/>
        </p:nvSpPr>
        <p:spPr>
          <a:xfrm>
            <a:off x="4062984" y="6693408"/>
            <a:ext cx="2031492" cy="164592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Top stripe Applied AI"/>
          <p:cNvSpPr/>
          <p:nvPr/>
        </p:nvSpPr>
        <p:spPr>
          <a:xfrm>
            <a:off x="6094476" y="0"/>
            <a:ext cx="2031492" cy="16459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Bottom stripe Applied AI"/>
          <p:cNvSpPr/>
          <p:nvPr/>
        </p:nvSpPr>
        <p:spPr>
          <a:xfrm>
            <a:off x="6094476" y="6693408"/>
            <a:ext cx="2031492" cy="16459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op stripe MLOps &amp; Engineering"/>
          <p:cNvSpPr/>
          <p:nvPr/>
        </p:nvSpPr>
        <p:spPr>
          <a:xfrm>
            <a:off x="8125968" y="0"/>
            <a:ext cx="2031492" cy="164592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Bottom stripe MLOps &amp; Engineering"/>
          <p:cNvSpPr/>
          <p:nvPr/>
        </p:nvSpPr>
        <p:spPr>
          <a:xfrm>
            <a:off x="8125968" y="6693408"/>
            <a:ext cx="2031492" cy="164592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Top stripe Responsible AI &amp; Research"/>
          <p:cNvSpPr/>
          <p:nvPr/>
        </p:nvSpPr>
        <p:spPr>
          <a:xfrm>
            <a:off x="10157460" y="0"/>
            <a:ext cx="2031492" cy="164592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Bottom stripe Responsible AI &amp; Research"/>
          <p:cNvSpPr/>
          <p:nvPr/>
        </p:nvSpPr>
        <p:spPr>
          <a:xfrm>
            <a:off x="10157460" y="6693408"/>
            <a:ext cx="2031492" cy="164592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21945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Learn it. Build it. Ship it responsibly.</a:t>
            </a:r>
            <a:endParaRPr lang="en-US" sz="48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474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Educational reference. Respect data privacy, licenses and people.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2062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Developed by Syed Muhammad Tayyab  |  github.com/Syed-Muhammad-Tayyab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MLTree">
  <a:themeElements>
    <a:clrScheme name="AIMLTree">
      <a:dk1>
        <a:srgbClr val="0D1117"/>
      </a:dk1>
      <a:lt1>
        <a:srgbClr val="FFFFFF"/>
      </a:lt1>
      <a:dk2>
        <a:srgbClr val="161B22"/>
      </a:dk2>
      <a:lt2>
        <a:srgbClr val="9AA4AF"/>
      </a:lt2>
      <a:accent1>
        <a:srgbClr val="F59E0B"/>
      </a:accent1>
      <a:accent2>
        <a:srgbClr val="EF4444"/>
      </a:accent2>
      <a:accent3>
        <a:srgbClr val="3B82F6"/>
      </a:accent3>
      <a:accent4>
        <a:srgbClr val="A855F7"/>
      </a:accent4>
      <a:accent5>
        <a:srgbClr val="10B981"/>
      </a:accent5>
      <a:accent6>
        <a:srgbClr val="06B6D4"/>
      </a:accent6>
      <a:hlink>
        <a:srgbClr val="58A6FF"/>
      </a:hlink>
      <a:folHlink>
        <a:srgbClr val="A855F7"/>
      </a:folHlink>
    </a:clrScheme>
    <a:fontScheme name="AIMLTre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AI &amp; Machine Learning Tree</dc:title>
  <dc:subject>PptxGenJS Presentation</dc:subject>
  <dc:creator>Syed</dc:creator>
  <cp:lastModifiedBy>Syed</cp:lastModifiedBy>
  <cp:revision>1</cp:revision>
  <dcterms:created xsi:type="dcterms:W3CDTF">2026-10-16T05:41:41Z</dcterms:created>
  <dcterms:modified xsi:type="dcterms:W3CDTF">2026-10-16T05:41:41Z</dcterms:modified>
</cp:coreProperties>
</file>